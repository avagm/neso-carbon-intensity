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1F"/>
        </a:solidFill>
      </p:bgPr>
    </p:bg>
    <p:spTree>
      <p:nvGrpSpPr>
        <p:cNvPr id="1" name=""/>
        <p:cNvGrpSpPr/>
        <p:nvPr/>
      </p:nvGrpSpPr>
      <p:grpSpPr>
        <a:xfrm>
          <a:off x="0" y="0"/>
          <a:ext cx="0" cy="0"/>
          <a:chOff x="0" y="0"/>
          <a:chExt cx="0" cy="0"/>
        </a:xfrm>
      </p:grpSpPr>
      <p:sp>
        <p:nvSpPr>
          <p:cNvPr id="2" name="Shape 0"/>
          <p:cNvSpPr/>
          <p:nvPr/>
        </p:nvSpPr>
        <p:spPr>
          <a:xfrm>
            <a:off x="3563112" y="320040"/>
            <a:ext cx="0" cy="6922008"/>
          </a:xfrm>
          <a:prstGeom prst="line">
            <a:avLst/>
          </a:prstGeom>
          <a:noFill/>
          <a:ln w="9525">
            <a:solidFill>
              <a:srgbClr val="2A5A45"/>
            </a:solidFill>
            <a:prstDash val="dash"/>
          </a:ln>
        </p:spPr>
      </p:sp>
      <p:sp>
        <p:nvSpPr>
          <p:cNvPr id="3" name="Shape 1"/>
          <p:cNvSpPr/>
          <p:nvPr/>
        </p:nvSpPr>
        <p:spPr>
          <a:xfrm>
            <a:off x="7126224" y="320040"/>
            <a:ext cx="0" cy="6922008"/>
          </a:xfrm>
          <a:prstGeom prst="line">
            <a:avLst/>
          </a:prstGeom>
          <a:noFill/>
          <a:ln w="9525">
            <a:solidFill>
              <a:srgbClr val="2A5A45"/>
            </a:solidFill>
            <a:prstDash val="dash"/>
          </a:ln>
        </p:spPr>
      </p:sp>
      <p:sp>
        <p:nvSpPr>
          <p:cNvPr id="4" name="Text 2"/>
          <p:cNvSpPr/>
          <p:nvPr/>
        </p:nvSpPr>
        <p:spPr>
          <a:xfrm>
            <a:off x="310896" y="411480"/>
            <a:ext cx="2941320" cy="274320"/>
          </a:xfrm>
          <a:prstGeom prst="rect">
            <a:avLst/>
          </a:prstGeom>
          <a:noFill/>
          <a:ln/>
        </p:spPr>
        <p:txBody>
          <a:bodyPr wrap="square" lIns="0" tIns="0" rIns="0" bIns="0" rtlCol="0" anchor="ctr"/>
          <a:lstStyle/>
          <a:p>
            <a:pPr indent="0" marL="0">
              <a:buNone/>
            </a:pPr>
            <a:r>
              <a:rPr lang="en-US" sz="1000" b="1" spc="120" kern="0" dirty="0">
                <a:solidFill>
                  <a:srgbClr val="00C49A"/>
                </a:solidFill>
                <a:latin typeface="Calibri" pitchFamily="34" charset="0"/>
                <a:ea typeface="Calibri" pitchFamily="34" charset="-122"/>
                <a:cs typeface="Calibri" pitchFamily="34" charset="-120"/>
              </a:rPr>
              <a:t>NESO CARBON INTENSITY PROJECT</a:t>
            </a:r>
            <a:endParaRPr lang="en-US" sz="1000" dirty="0"/>
          </a:p>
        </p:txBody>
      </p:sp>
      <p:sp>
        <p:nvSpPr>
          <p:cNvPr id="5" name="Text 3"/>
          <p:cNvSpPr/>
          <p:nvPr/>
        </p:nvSpPr>
        <p:spPr>
          <a:xfrm>
            <a:off x="310896" y="676656"/>
            <a:ext cx="2941320" cy="256032"/>
          </a:xfrm>
          <a:prstGeom prst="rect">
            <a:avLst/>
          </a:prstGeom>
          <a:noFill/>
          <a:ln/>
        </p:spPr>
        <p:txBody>
          <a:bodyPr wrap="square" lIns="0" tIns="0" rIns="0" bIns="0" rtlCol="0" anchor="ctr"/>
          <a:lstStyle/>
          <a:p>
            <a:pPr indent="0" marL="0">
              <a:buNone/>
            </a:pPr>
            <a:r>
              <a:rPr lang="en-US" sz="950" dirty="0">
                <a:solidFill>
                  <a:srgbClr val="7AADA0"/>
                </a:solidFill>
                <a:latin typeface="Calibri" pitchFamily="34" charset="0"/>
                <a:ea typeface="Calibri" pitchFamily="34" charset="-122"/>
                <a:cs typeface="Calibri" pitchFamily="34" charset="-120"/>
              </a:rPr>
              <a:t>Imperial College London  ·  ELEC60014  ·  2026</a:t>
            </a:r>
            <a:endParaRPr lang="en-US" sz="950" dirty="0"/>
          </a:p>
        </p:txBody>
      </p:sp>
      <p:sp>
        <p:nvSpPr>
          <p:cNvPr id="6" name="Text 4"/>
          <p:cNvSpPr/>
          <p:nvPr/>
        </p:nvSpPr>
        <p:spPr>
          <a:xfrm>
            <a:off x="310896" y="950976"/>
            <a:ext cx="2941320" cy="1188720"/>
          </a:xfrm>
          <a:prstGeom prst="rect">
            <a:avLst/>
          </a:prstGeom>
          <a:noFill/>
          <a:ln/>
        </p:spPr>
        <p:txBody>
          <a:bodyPr wrap="square" lIns="0" tIns="0" rIns="0" bIns="0" rtlCol="0" anchor="t"/>
          <a:lstStyle/>
          <a:p>
            <a:pPr indent="0" marL="0">
              <a:lnSpc>
                <a:spcPct val="100000"/>
              </a:lnSpc>
              <a:buNone/>
            </a:pPr>
            <a:r>
              <a:rPr lang="en-US" sz="2300" b="1" dirty="0">
                <a:solidFill>
                  <a:srgbClr val="C5EBE0"/>
                </a:solidFill>
                <a:latin typeface="Georgia" pitchFamily="34" charset="0"/>
                <a:ea typeface="Georgia" pitchFamily="34" charset="-122"/>
                <a:cs typeface="Georgia" pitchFamily="34" charset="-120"/>
              </a:rPr>
              <a:t>Mapping GB Carbon Intensity</a:t>
            </a:r>
            <a:endParaRPr lang="en-US" sz="2300" dirty="0"/>
          </a:p>
        </p:txBody>
      </p:sp>
      <p:sp>
        <p:nvSpPr>
          <p:cNvPr id="7" name="Text 5"/>
          <p:cNvSpPr/>
          <p:nvPr/>
        </p:nvSpPr>
        <p:spPr>
          <a:xfrm>
            <a:off x="310896" y="2212848"/>
            <a:ext cx="2941320" cy="868680"/>
          </a:xfrm>
          <a:prstGeom prst="rect">
            <a:avLst/>
          </a:prstGeom>
          <a:noFill/>
          <a:ln/>
        </p:spPr>
        <p:txBody>
          <a:bodyPr wrap="square" lIns="0" tIns="0" rIns="0" bIns="0" rtlCol="0" anchor="t"/>
          <a:lstStyle/>
          <a:p>
            <a:pPr indent="0" marL="0">
              <a:lnSpc>
                <a:spcPct val="105000"/>
              </a:lnSpc>
              <a:buNone/>
            </a:pPr>
            <a:r>
              <a:rPr lang="en-US" sz="1050" dirty="0">
                <a:solidFill>
                  <a:srgbClr val="C5EBE0"/>
                </a:solidFill>
                <a:latin typeface="Calibri" pitchFamily="34" charset="0"/>
                <a:ea typeface="Calibri" pitchFamily="34" charset="-122"/>
                <a:cs typeface="Calibri" pitchFamily="34" charset="-120"/>
              </a:rPr>
              <a:t>How network resolution reshapes Britain's carbon map, from a single-node copperplate to 2,000 buses, benchmarked against NESO across full-year 2023.</a:t>
            </a:r>
            <a:endParaRPr lang="en-US" sz="1050" dirty="0"/>
          </a:p>
        </p:txBody>
      </p:sp>
      <p:pic>
        <p:nvPicPr>
          <p:cNvPr id="8" name="Image 0" descr="figs/cover_etys_catchment.png">    </p:cNvPr>
          <p:cNvPicPr>
            <a:picLocks noChangeAspect="1"/>
          </p:cNvPicPr>
          <p:nvPr/>
        </p:nvPicPr>
        <p:blipFill>
          <a:blip r:embed="rId1"/>
          <a:stretch>
            <a:fillRect/>
          </a:stretch>
        </p:blipFill>
        <p:spPr>
          <a:xfrm>
            <a:off x="890016" y="3017520"/>
            <a:ext cx="1783080" cy="3290763"/>
          </a:xfrm>
          <a:prstGeom prst="rect">
            <a:avLst/>
          </a:prstGeom>
        </p:spPr>
      </p:pic>
      <p:sp>
        <p:nvSpPr>
          <p:cNvPr id="9" name="Text 6"/>
          <p:cNvSpPr/>
          <p:nvPr/>
        </p:nvSpPr>
        <p:spPr>
          <a:xfrm>
            <a:off x="310896" y="6364224"/>
            <a:ext cx="2941320" cy="457200"/>
          </a:xfrm>
          <a:prstGeom prst="rect">
            <a:avLst/>
          </a:prstGeom>
          <a:noFill/>
          <a:ln/>
        </p:spPr>
        <p:txBody>
          <a:bodyPr wrap="square" lIns="0" tIns="0" rIns="0" bIns="0" rtlCol="0" anchor="ctr"/>
          <a:lstStyle/>
          <a:p>
            <a:pPr algn="ctr" indent="0" marL="0">
              <a:lnSpc>
                <a:spcPct val="100000"/>
              </a:lnSpc>
              <a:buNone/>
            </a:pPr>
            <a:r>
              <a:rPr lang="en-US" sz="850" i="1" dirty="0">
                <a:solidFill>
                  <a:srgbClr val="7AADA0"/>
                </a:solidFill>
                <a:latin typeface="Calibri" pitchFamily="34" charset="0"/>
                <a:ea typeface="Calibri" pitchFamily="34" charset="-122"/>
                <a:cs typeface="Calibri" pitchFamily="34" charset="-120"/>
              </a:rPr>
              <a:t>ETYS 2,000-bus catchment view, 2023 (provisional). Green = clean, red = carbon-intensive.</a:t>
            </a:r>
            <a:endParaRPr lang="en-US" sz="850" dirty="0"/>
          </a:p>
        </p:txBody>
      </p:sp>
      <p:sp>
        <p:nvSpPr>
          <p:cNvPr id="10" name="Text 7"/>
          <p:cNvSpPr/>
          <p:nvPr/>
        </p:nvSpPr>
        <p:spPr>
          <a:xfrm>
            <a:off x="310896" y="7242048"/>
            <a:ext cx="2941320" cy="274320"/>
          </a:xfrm>
          <a:prstGeom prst="rect">
            <a:avLst/>
          </a:prstGeom>
          <a:noFill/>
          <a:ln/>
        </p:spPr>
        <p:txBody>
          <a:bodyPr wrap="square" rtlCol="0" anchor="ctr"/>
          <a:lstStyle/>
          <a:p>
            <a:pPr algn="ctr" indent="0" marL="0">
              <a:buNone/>
            </a:pPr>
            <a:r>
              <a:rPr lang="en-US" sz="850" spc="100" kern="0" dirty="0">
                <a:solidFill>
                  <a:srgbClr val="00C49A"/>
                </a:solidFill>
                <a:latin typeface="Calibri" pitchFamily="34" charset="0"/>
                <a:ea typeface="Calibri" pitchFamily="34" charset="-122"/>
                <a:cs typeface="Calibri" pitchFamily="34" charset="-120"/>
              </a:rPr>
              <a:t>In collaboration with the National Energy System Operator</a:t>
            </a:r>
            <a:endParaRPr lang="en-US" sz="850" dirty="0"/>
          </a:p>
        </p:txBody>
      </p:sp>
      <p:sp>
        <p:nvSpPr>
          <p:cNvPr id="11" name="Shape 8"/>
          <p:cNvSpPr/>
          <p:nvPr/>
        </p:nvSpPr>
        <p:spPr>
          <a:xfrm>
            <a:off x="3874008" y="384048"/>
            <a:ext cx="384048" cy="384048"/>
          </a:xfrm>
          <a:prstGeom prst="ellipse">
            <a:avLst/>
          </a:prstGeom>
          <a:solidFill>
            <a:srgbClr val="00C49A"/>
          </a:solidFill>
          <a:ln/>
        </p:spPr>
      </p:sp>
      <p:sp>
        <p:nvSpPr>
          <p:cNvPr id="12" name="Text 9"/>
          <p:cNvSpPr/>
          <p:nvPr/>
        </p:nvSpPr>
        <p:spPr>
          <a:xfrm>
            <a:off x="3874008" y="384048"/>
            <a:ext cx="384048" cy="384048"/>
          </a:xfrm>
          <a:prstGeom prst="rect">
            <a:avLst/>
          </a:prstGeom>
          <a:noFill/>
          <a:ln/>
        </p:spPr>
        <p:txBody>
          <a:bodyPr wrap="square" lIns="0" tIns="0" rIns="0" bIns="0" rtlCol="0" anchor="ctr"/>
          <a:lstStyle/>
          <a:p>
            <a:pPr algn="ctr" indent="0" marL="0">
              <a:buNone/>
            </a:pPr>
            <a:r>
              <a:rPr lang="en-US" sz="1300" b="1" dirty="0">
                <a:solidFill>
                  <a:srgbClr val="0D2B1F"/>
                </a:solidFill>
                <a:latin typeface="Georgia" pitchFamily="34" charset="0"/>
                <a:ea typeface="Georgia" pitchFamily="34" charset="-122"/>
                <a:cs typeface="Georgia" pitchFamily="34" charset="-120"/>
              </a:rPr>
              <a:t>02</a:t>
            </a:r>
            <a:endParaRPr lang="en-US" sz="1300" dirty="0"/>
          </a:p>
        </p:txBody>
      </p:sp>
      <p:sp>
        <p:nvSpPr>
          <p:cNvPr id="13" name="Text 10"/>
          <p:cNvSpPr/>
          <p:nvPr/>
        </p:nvSpPr>
        <p:spPr>
          <a:xfrm>
            <a:off x="4349496" y="384048"/>
            <a:ext cx="2484120" cy="384048"/>
          </a:xfrm>
          <a:prstGeom prst="rect">
            <a:avLst/>
          </a:prstGeom>
          <a:noFill/>
          <a:ln/>
        </p:spPr>
        <p:txBody>
          <a:bodyPr wrap="square" rtlCol="0" anchor="ctr"/>
          <a:lstStyle/>
          <a:p>
            <a:pPr algn="l" indent="0" marL="0">
              <a:buNone/>
            </a:pPr>
            <a:r>
              <a:rPr lang="en-US" sz="1050" b="1" spc="200" kern="0" dirty="0">
                <a:solidFill>
                  <a:srgbClr val="00C49A"/>
                </a:solidFill>
                <a:latin typeface="Calibri" pitchFamily="34" charset="0"/>
                <a:ea typeface="Calibri" pitchFamily="34" charset="-122"/>
                <a:cs typeface="Calibri" pitchFamily="34" charset="-120"/>
              </a:rPr>
              <a:t>TWO WAYS TO MAP A TOPOLOGY</a:t>
            </a:r>
            <a:endParaRPr lang="en-US" sz="1050" dirty="0"/>
          </a:p>
        </p:txBody>
      </p:sp>
      <p:sp>
        <p:nvSpPr>
          <p:cNvPr id="14" name="Text 11"/>
          <p:cNvSpPr/>
          <p:nvPr/>
        </p:nvSpPr>
        <p:spPr>
          <a:xfrm>
            <a:off x="3874008" y="896112"/>
            <a:ext cx="2941320" cy="777240"/>
          </a:xfrm>
          <a:prstGeom prst="rect">
            <a:avLst/>
          </a:prstGeom>
          <a:noFill/>
          <a:ln/>
        </p:spPr>
        <p:txBody>
          <a:bodyPr wrap="square" rtlCol="0" anchor="t"/>
          <a:lstStyle/>
          <a:p>
            <a:pPr indent="0" marL="0">
              <a:lnSpc>
                <a:spcPct val="100000"/>
              </a:lnSpc>
              <a:buNone/>
            </a:pPr>
            <a:r>
              <a:rPr lang="en-US" sz="1850" b="1" dirty="0">
                <a:solidFill>
                  <a:srgbClr val="C5EBE0"/>
                </a:solidFill>
                <a:latin typeface="Georgia" pitchFamily="34" charset="0"/>
                <a:ea typeface="Georgia" pitchFamily="34" charset="-122"/>
                <a:cs typeface="Georgia" pitchFamily="34" charset="-120"/>
              </a:rPr>
              <a:t>NESO regions vs Voronoi catchments</a:t>
            </a:r>
            <a:endParaRPr lang="en-US" sz="1850" dirty="0"/>
          </a:p>
        </p:txBody>
      </p:sp>
      <p:sp>
        <p:nvSpPr>
          <p:cNvPr id="15" name="Text 12"/>
          <p:cNvSpPr/>
          <p:nvPr/>
        </p:nvSpPr>
        <p:spPr>
          <a:xfrm>
            <a:off x="3874008" y="1691640"/>
            <a:ext cx="2941320" cy="1188720"/>
          </a:xfrm>
          <a:prstGeom prst="rect">
            <a:avLst/>
          </a:prstGeom>
          <a:noFill/>
          <a:ln/>
        </p:spPr>
        <p:txBody>
          <a:bodyPr wrap="square" rtlCol="0" anchor="t"/>
          <a:lstStyle/>
          <a:p>
            <a:pPr indent="0" marL="0">
              <a:lnSpc>
                <a:spcPct val="105000"/>
              </a:lnSpc>
              <a:buNone/>
            </a:pPr>
            <a:r>
              <a:rPr lang="en-US" sz="1100" dirty="0">
                <a:solidFill>
                  <a:srgbClr val="C5EBE0"/>
                </a:solidFill>
                <a:latin typeface="Calibri" pitchFamily="34" charset="0"/>
                <a:ea typeface="Calibri" pitchFamily="34" charset="-122"/>
                <a:cs typeface="Calibri" pitchFamily="34" charset="-120"/>
              </a:rPr>
              <a:t>The same Reduced 32-bus dispatch, mapped two ways. NESO aggregates buses into 14 statutory reporting regions; Voronoi catchments tessellate GB by nearest bus, keeping every one of the 32 buses distinct.</a:t>
            </a:r>
            <a:endParaRPr lang="en-US" sz="1100" dirty="0"/>
          </a:p>
        </p:txBody>
      </p:sp>
      <p:pic>
        <p:nvPicPr>
          <p:cNvPr id="16" name="Image 1" descr="figs/map_compare_reduced.png">    </p:cNvPr>
          <p:cNvPicPr>
            <a:picLocks noChangeAspect="1"/>
          </p:cNvPicPr>
          <p:nvPr/>
        </p:nvPicPr>
        <p:blipFill>
          <a:blip r:embed="rId2"/>
          <a:stretch>
            <a:fillRect/>
          </a:stretch>
        </p:blipFill>
        <p:spPr>
          <a:xfrm>
            <a:off x="3874008" y="2944368"/>
            <a:ext cx="2941320" cy="2481379"/>
          </a:xfrm>
          <a:prstGeom prst="rect">
            <a:avLst/>
          </a:prstGeom>
        </p:spPr>
      </p:pic>
      <p:sp>
        <p:nvSpPr>
          <p:cNvPr id="17" name="Text 13"/>
          <p:cNvSpPr/>
          <p:nvPr/>
        </p:nvSpPr>
        <p:spPr>
          <a:xfrm>
            <a:off x="3874008" y="5532120"/>
            <a:ext cx="2941320" cy="1417320"/>
          </a:xfrm>
          <a:prstGeom prst="rect">
            <a:avLst/>
          </a:prstGeom>
          <a:noFill/>
          <a:ln/>
        </p:spPr>
        <p:txBody>
          <a:bodyPr wrap="square" rtlCol="0" anchor="t"/>
          <a:lstStyle/>
          <a:p>
            <a:pPr indent="0" marL="0">
              <a:lnSpc>
                <a:spcPct val="105000"/>
              </a:lnSpc>
              <a:spcAft>
                <a:spcPts val="500"/>
              </a:spcAft>
              <a:buNone/>
            </a:pPr>
            <a:r>
              <a:rPr lang="en-US" sz="1000" b="1" dirty="0">
                <a:solidFill>
                  <a:srgbClr val="00C49A"/>
                </a:solidFill>
                <a:latin typeface="Calibri" pitchFamily="34" charset="0"/>
                <a:ea typeface="Calibri" pitchFamily="34" charset="-122"/>
                <a:cs typeface="Calibri" pitchFamily="34" charset="-120"/>
              </a:rPr>
              <a:t>›  </a:t>
            </a:r>
            <a:pPr indent="0" marL="0">
              <a:lnSpc>
                <a:spcPct val="105000"/>
              </a:lnSpc>
              <a:spcAft>
                <a:spcPts val="500"/>
              </a:spcAft>
              <a:buNone/>
            </a:pPr>
            <a:r>
              <a:rPr lang="en-US" sz="1000" dirty="0">
                <a:solidFill>
                  <a:srgbClr val="C5EBE0"/>
                </a:solidFill>
                <a:latin typeface="Calibri" pitchFamily="34" charset="0"/>
                <a:ea typeface="Calibri" pitchFamily="34" charset="-122"/>
                <a:cs typeface="Calibri" pitchFamily="34" charset="-120"/>
              </a:rPr>
              <a:t>Both show the generation view, where emitting plant sits. Scotland (wind, nuclear) stays green; Yorkshire and the south (gas, waste) run hot.
</a:t>
            </a:r>
            <a:pPr indent="0" marL="0">
              <a:lnSpc>
                <a:spcPct val="105000"/>
              </a:lnSpc>
              <a:spcAft>
                <a:spcPts val="500"/>
              </a:spcAft>
              <a:buNone/>
            </a:pPr>
            <a:r>
              <a:rPr lang="en-US" sz="1000" b="1" dirty="0">
                <a:solidFill>
                  <a:srgbClr val="00C49A"/>
                </a:solidFill>
                <a:latin typeface="Calibri" pitchFamily="34" charset="0"/>
                <a:ea typeface="Calibri" pitchFamily="34" charset="-122"/>
                <a:cs typeface="Calibri" pitchFamily="34" charset="-120"/>
              </a:rPr>
              <a:t>›  </a:t>
            </a:r>
            <a:pPr indent="0" marL="0">
              <a:lnSpc>
                <a:spcPct val="105000"/>
              </a:lnSpc>
              <a:spcAft>
                <a:spcPts val="500"/>
              </a:spcAft>
              <a:buNone/>
            </a:pPr>
            <a:r>
              <a:rPr lang="en-US" sz="1000" dirty="0">
                <a:solidFill>
                  <a:srgbClr val="C5EBE0"/>
                </a:solidFill>
                <a:latin typeface="Calibri" pitchFamily="34" charset="0"/>
                <a:ea typeface="Calibri" pitchFamily="34" charset="-122"/>
                <a:cs typeface="Calibri" pitchFamily="34" charset="-120"/>
              </a:rPr>
              <a:t>Aggregating to regions hides the within-region spread the catchment view keeps.</a:t>
            </a:r>
            <a:endParaRPr lang="en-US" sz="1000" dirty="0"/>
          </a:p>
        </p:txBody>
      </p:sp>
      <p:sp>
        <p:nvSpPr>
          <p:cNvPr id="18" name="Text 14"/>
          <p:cNvSpPr/>
          <p:nvPr/>
        </p:nvSpPr>
        <p:spPr>
          <a:xfrm>
            <a:off x="3874008" y="7242048"/>
            <a:ext cx="2941320" cy="274320"/>
          </a:xfrm>
          <a:prstGeom prst="rect">
            <a:avLst/>
          </a:prstGeom>
          <a:noFill/>
          <a:ln/>
        </p:spPr>
        <p:txBody>
          <a:bodyPr wrap="square" rtlCol="0" anchor="ctr"/>
          <a:lstStyle/>
          <a:p>
            <a:pPr algn="l" indent="0" marL="0">
              <a:buNone/>
            </a:pPr>
            <a:r>
              <a:rPr lang="en-US" sz="850" spc="100" kern="0" dirty="0">
                <a:solidFill>
                  <a:srgbClr val="7AADA0"/>
                </a:solidFill>
                <a:latin typeface="Calibri" pitchFamily="34" charset="0"/>
                <a:ea typeface="Calibri" pitchFamily="34" charset="-122"/>
                <a:cs typeface="Calibri" pitchFamily="34" charset="-120"/>
              </a:rPr>
              <a:t>Reduced 32-bus  ·  generation view  ·  full year 2023</a:t>
            </a:r>
            <a:endParaRPr lang="en-US" sz="850" dirty="0"/>
          </a:p>
        </p:txBody>
      </p:sp>
      <p:sp>
        <p:nvSpPr>
          <p:cNvPr id="19" name="Shape 15"/>
          <p:cNvSpPr/>
          <p:nvPr/>
        </p:nvSpPr>
        <p:spPr>
          <a:xfrm>
            <a:off x="7437120" y="384048"/>
            <a:ext cx="384048" cy="384048"/>
          </a:xfrm>
          <a:prstGeom prst="ellipse">
            <a:avLst/>
          </a:prstGeom>
          <a:solidFill>
            <a:srgbClr val="00C49A"/>
          </a:solidFill>
          <a:ln/>
        </p:spPr>
      </p:sp>
      <p:sp>
        <p:nvSpPr>
          <p:cNvPr id="20" name="Text 16"/>
          <p:cNvSpPr/>
          <p:nvPr/>
        </p:nvSpPr>
        <p:spPr>
          <a:xfrm>
            <a:off x="7437120" y="384048"/>
            <a:ext cx="384048" cy="384048"/>
          </a:xfrm>
          <a:prstGeom prst="rect">
            <a:avLst/>
          </a:prstGeom>
          <a:noFill/>
          <a:ln/>
        </p:spPr>
        <p:txBody>
          <a:bodyPr wrap="square" lIns="0" tIns="0" rIns="0" bIns="0" rtlCol="0" anchor="ctr"/>
          <a:lstStyle/>
          <a:p>
            <a:pPr algn="ctr" indent="0" marL="0">
              <a:buNone/>
            </a:pPr>
            <a:r>
              <a:rPr lang="en-US" sz="1300" b="1" dirty="0">
                <a:solidFill>
                  <a:srgbClr val="0D2B1F"/>
                </a:solidFill>
                <a:latin typeface="Georgia" pitchFamily="34" charset="0"/>
                <a:ea typeface="Georgia" pitchFamily="34" charset="-122"/>
                <a:cs typeface="Georgia" pitchFamily="34" charset="-120"/>
              </a:rPr>
              <a:t>03</a:t>
            </a:r>
            <a:endParaRPr lang="en-US" sz="1300" dirty="0"/>
          </a:p>
        </p:txBody>
      </p:sp>
      <p:sp>
        <p:nvSpPr>
          <p:cNvPr id="21" name="Text 17"/>
          <p:cNvSpPr/>
          <p:nvPr/>
        </p:nvSpPr>
        <p:spPr>
          <a:xfrm>
            <a:off x="7912608" y="384048"/>
            <a:ext cx="2484120" cy="384048"/>
          </a:xfrm>
          <a:prstGeom prst="rect">
            <a:avLst/>
          </a:prstGeom>
          <a:noFill/>
          <a:ln/>
        </p:spPr>
        <p:txBody>
          <a:bodyPr wrap="square" rtlCol="0" anchor="ctr"/>
          <a:lstStyle/>
          <a:p>
            <a:pPr algn="l" indent="0" marL="0">
              <a:buNone/>
            </a:pPr>
            <a:r>
              <a:rPr lang="en-US" sz="1050" b="1" spc="200" kern="0" dirty="0">
                <a:solidFill>
                  <a:srgbClr val="00C49A"/>
                </a:solidFill>
                <a:latin typeface="Calibri" pitchFamily="34" charset="0"/>
                <a:ea typeface="Calibri" pitchFamily="34" charset="-122"/>
                <a:cs typeface="Calibri" pitchFamily="34" charset="-120"/>
              </a:rPr>
              <a:t>VALIDATION</a:t>
            </a:r>
            <a:endParaRPr lang="en-US" sz="1050" dirty="0"/>
          </a:p>
        </p:txBody>
      </p:sp>
      <p:sp>
        <p:nvSpPr>
          <p:cNvPr id="22" name="Text 18"/>
          <p:cNvSpPr/>
          <p:nvPr/>
        </p:nvSpPr>
        <p:spPr>
          <a:xfrm>
            <a:off x="7437120" y="896112"/>
            <a:ext cx="2941320" cy="777240"/>
          </a:xfrm>
          <a:prstGeom prst="rect">
            <a:avLst/>
          </a:prstGeom>
          <a:noFill/>
          <a:ln/>
        </p:spPr>
        <p:txBody>
          <a:bodyPr wrap="square" rtlCol="0" anchor="t"/>
          <a:lstStyle/>
          <a:p>
            <a:pPr indent="0" marL="0">
              <a:lnSpc>
                <a:spcPct val="100000"/>
              </a:lnSpc>
              <a:buNone/>
            </a:pPr>
            <a:r>
              <a:rPr lang="en-US" sz="1800" b="1" dirty="0">
                <a:solidFill>
                  <a:srgbClr val="C5EBE0"/>
                </a:solidFill>
                <a:latin typeface="Georgia" pitchFamily="34" charset="0"/>
                <a:ea typeface="Georgia" pitchFamily="34" charset="-122"/>
                <a:cs typeface="Georgia" pitchFamily="34" charset="-120"/>
              </a:rPr>
              <a:t>Benchmarked against NESO, hour by hour</a:t>
            </a:r>
            <a:endParaRPr lang="en-US" sz="1800" dirty="0"/>
          </a:p>
        </p:txBody>
      </p:sp>
      <p:pic>
        <p:nvPicPr>
          <p:cNvPr id="23" name="Image 2" descr="figs/validation_grid.png">    </p:cNvPr>
          <p:cNvPicPr>
            <a:picLocks noChangeAspect="1"/>
          </p:cNvPicPr>
          <p:nvPr/>
        </p:nvPicPr>
        <p:blipFill>
          <a:blip r:embed="rId3"/>
          <a:stretch>
            <a:fillRect/>
          </a:stretch>
        </p:blipFill>
        <p:spPr>
          <a:xfrm>
            <a:off x="7600188" y="1627632"/>
            <a:ext cx="2615184" cy="2475942"/>
          </a:xfrm>
          <a:prstGeom prst="rect">
            <a:avLst/>
          </a:prstGeom>
        </p:spPr>
      </p:pic>
      <p:pic>
        <p:nvPicPr>
          <p:cNvPr id="24" name="Image 3" descr="figs/stepladder.png">    </p:cNvPr>
          <p:cNvPicPr>
            <a:picLocks noChangeAspect="1"/>
          </p:cNvPicPr>
          <p:nvPr/>
        </p:nvPicPr>
        <p:blipFill>
          <a:blip r:embed="rId4"/>
          <a:stretch>
            <a:fillRect/>
          </a:stretch>
        </p:blipFill>
        <p:spPr>
          <a:xfrm>
            <a:off x="7437120" y="4224528"/>
            <a:ext cx="2941320" cy="2012103"/>
          </a:xfrm>
          <a:prstGeom prst="rect">
            <a:avLst/>
          </a:prstGeom>
        </p:spPr>
      </p:pic>
      <p:sp>
        <p:nvSpPr>
          <p:cNvPr id="25" name="Text 19"/>
          <p:cNvSpPr/>
          <p:nvPr/>
        </p:nvSpPr>
        <p:spPr>
          <a:xfrm>
            <a:off x="7437120" y="6355080"/>
            <a:ext cx="2941320" cy="914400"/>
          </a:xfrm>
          <a:prstGeom prst="rect">
            <a:avLst/>
          </a:prstGeom>
          <a:noFill/>
          <a:ln/>
        </p:spPr>
        <p:txBody>
          <a:bodyPr wrap="square" rtlCol="0" anchor="t"/>
          <a:lstStyle/>
          <a:p>
            <a:pPr indent="0" marL="0">
              <a:lnSpc>
                <a:spcPct val="104000"/>
              </a:lnSpc>
              <a:buNone/>
            </a:pPr>
            <a:r>
              <a:rPr lang="en-US" sz="870" dirty="0">
                <a:solidFill>
                  <a:srgbClr val="7AADA0"/>
                </a:solidFill>
                <a:latin typeface="Calibri" pitchFamily="34" charset="0"/>
                <a:ea typeface="Calibri" pitchFamily="34" charset="-122"/>
                <a:cs typeface="Calibri" pitchFamily="34" charset="-120"/>
              </a:rPr>
              <a:t>Adding network constraints sharpens the hourly fit: RMSE falls 38.0 to 28.3 gCO2/kWh from copperplate to 32-bus. ETYS 2000-bus (provisional) sits highest, a real congestion signature plus an interior-point solve still being tightened.</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2B1F"/>
        </a:solidFill>
      </p:bgPr>
    </p:bg>
    <p:spTree>
      <p:nvGrpSpPr>
        <p:cNvPr id="1" name=""/>
        <p:cNvGrpSpPr/>
        <p:nvPr/>
      </p:nvGrpSpPr>
      <p:grpSpPr>
        <a:xfrm>
          <a:off x="0" y="0"/>
          <a:ext cx="0" cy="0"/>
          <a:chOff x="0" y="0"/>
          <a:chExt cx="0" cy="0"/>
        </a:xfrm>
      </p:grpSpPr>
      <p:sp>
        <p:nvSpPr>
          <p:cNvPr id="2" name="Shape 0"/>
          <p:cNvSpPr/>
          <p:nvPr/>
        </p:nvSpPr>
        <p:spPr>
          <a:xfrm>
            <a:off x="3563112" y="320040"/>
            <a:ext cx="0" cy="6922008"/>
          </a:xfrm>
          <a:prstGeom prst="line">
            <a:avLst/>
          </a:prstGeom>
          <a:noFill/>
          <a:ln w="9525">
            <a:solidFill>
              <a:srgbClr val="2A5A45"/>
            </a:solidFill>
            <a:prstDash val="dash"/>
          </a:ln>
        </p:spPr>
      </p:sp>
      <p:sp>
        <p:nvSpPr>
          <p:cNvPr id="3" name="Shape 1"/>
          <p:cNvSpPr/>
          <p:nvPr/>
        </p:nvSpPr>
        <p:spPr>
          <a:xfrm>
            <a:off x="7126224" y="320040"/>
            <a:ext cx="0" cy="6922008"/>
          </a:xfrm>
          <a:prstGeom prst="line">
            <a:avLst/>
          </a:prstGeom>
          <a:noFill/>
          <a:ln w="9525">
            <a:solidFill>
              <a:srgbClr val="2A5A45"/>
            </a:solidFill>
            <a:prstDash val="dash"/>
          </a:ln>
        </p:spPr>
      </p:sp>
      <p:sp>
        <p:nvSpPr>
          <p:cNvPr id="4" name="Shape 2"/>
          <p:cNvSpPr/>
          <p:nvPr/>
        </p:nvSpPr>
        <p:spPr>
          <a:xfrm>
            <a:off x="310896" y="384048"/>
            <a:ext cx="384048" cy="384048"/>
          </a:xfrm>
          <a:prstGeom prst="ellipse">
            <a:avLst/>
          </a:prstGeom>
          <a:solidFill>
            <a:srgbClr val="00C49A"/>
          </a:solidFill>
          <a:ln/>
        </p:spPr>
      </p:sp>
      <p:sp>
        <p:nvSpPr>
          <p:cNvPr id="5" name="Text 3"/>
          <p:cNvSpPr/>
          <p:nvPr/>
        </p:nvSpPr>
        <p:spPr>
          <a:xfrm>
            <a:off x="310896" y="384048"/>
            <a:ext cx="384048" cy="384048"/>
          </a:xfrm>
          <a:prstGeom prst="rect">
            <a:avLst/>
          </a:prstGeom>
          <a:noFill/>
          <a:ln/>
        </p:spPr>
        <p:txBody>
          <a:bodyPr wrap="square" lIns="0" tIns="0" rIns="0" bIns="0" rtlCol="0" anchor="ctr"/>
          <a:lstStyle/>
          <a:p>
            <a:pPr algn="ctr" indent="0" marL="0">
              <a:buNone/>
            </a:pPr>
            <a:r>
              <a:rPr lang="en-US" sz="1300" b="1" dirty="0">
                <a:solidFill>
                  <a:srgbClr val="0D2B1F"/>
                </a:solidFill>
                <a:latin typeface="Georgia" pitchFamily="34" charset="0"/>
                <a:ea typeface="Georgia" pitchFamily="34" charset="-122"/>
                <a:cs typeface="Georgia" pitchFamily="34" charset="-120"/>
              </a:rPr>
              <a:t>04</a:t>
            </a:r>
            <a:endParaRPr lang="en-US" sz="1300" dirty="0"/>
          </a:p>
        </p:txBody>
      </p:sp>
      <p:sp>
        <p:nvSpPr>
          <p:cNvPr id="6" name="Text 4"/>
          <p:cNvSpPr/>
          <p:nvPr/>
        </p:nvSpPr>
        <p:spPr>
          <a:xfrm>
            <a:off x="786384" y="384048"/>
            <a:ext cx="2484120" cy="384048"/>
          </a:xfrm>
          <a:prstGeom prst="rect">
            <a:avLst/>
          </a:prstGeom>
          <a:noFill/>
          <a:ln/>
        </p:spPr>
        <p:txBody>
          <a:bodyPr wrap="square" rtlCol="0" anchor="ctr"/>
          <a:lstStyle/>
          <a:p>
            <a:pPr algn="l" indent="0" marL="0">
              <a:buNone/>
            </a:pPr>
            <a:r>
              <a:rPr lang="en-US" sz="1050" b="1" spc="200" kern="0" dirty="0">
                <a:solidFill>
                  <a:srgbClr val="00C49A"/>
                </a:solidFill>
                <a:latin typeface="Calibri" pitchFamily="34" charset="0"/>
                <a:ea typeface="Calibri" pitchFamily="34" charset="-122"/>
                <a:cs typeface="Calibri" pitchFamily="34" charset="-120"/>
              </a:rPr>
              <a:t>HOW IT WORKS</a:t>
            </a:r>
            <a:endParaRPr lang="en-US" sz="1050" dirty="0"/>
          </a:p>
        </p:txBody>
      </p:sp>
      <p:sp>
        <p:nvSpPr>
          <p:cNvPr id="7" name="Text 5"/>
          <p:cNvSpPr/>
          <p:nvPr/>
        </p:nvSpPr>
        <p:spPr>
          <a:xfrm>
            <a:off x="310896" y="896112"/>
            <a:ext cx="2941320" cy="502920"/>
          </a:xfrm>
          <a:prstGeom prst="rect">
            <a:avLst/>
          </a:prstGeom>
          <a:noFill/>
          <a:ln/>
        </p:spPr>
        <p:txBody>
          <a:bodyPr wrap="square" rtlCol="0" anchor="t"/>
          <a:lstStyle/>
          <a:p>
            <a:pPr indent="0" marL="0">
              <a:buNone/>
            </a:pPr>
            <a:r>
              <a:rPr lang="en-US" sz="1800" b="1" dirty="0">
                <a:solidFill>
                  <a:srgbClr val="C5EBE0"/>
                </a:solidFill>
                <a:latin typeface="Georgia" pitchFamily="34" charset="0"/>
                <a:ea typeface="Georgia" pitchFamily="34" charset="-122"/>
                <a:cs typeface="Georgia" pitchFamily="34" charset="-120"/>
              </a:rPr>
              <a:t>From dispatch to carbon intensity</a:t>
            </a:r>
            <a:endParaRPr lang="en-US" sz="1800" dirty="0"/>
          </a:p>
        </p:txBody>
      </p:sp>
      <p:sp>
        <p:nvSpPr>
          <p:cNvPr id="8" name="Shape 6"/>
          <p:cNvSpPr/>
          <p:nvPr/>
        </p:nvSpPr>
        <p:spPr>
          <a:xfrm>
            <a:off x="310896" y="1536192"/>
            <a:ext cx="274320" cy="274320"/>
          </a:xfrm>
          <a:prstGeom prst="ellipse">
            <a:avLst/>
          </a:prstGeom>
          <a:solidFill>
            <a:srgbClr val="00875A"/>
          </a:solidFill>
          <a:ln/>
        </p:spPr>
      </p:sp>
      <p:sp>
        <p:nvSpPr>
          <p:cNvPr id="9" name="Text 7"/>
          <p:cNvSpPr/>
          <p:nvPr/>
        </p:nvSpPr>
        <p:spPr>
          <a:xfrm>
            <a:off x="310896" y="1536192"/>
            <a:ext cx="274320" cy="274320"/>
          </a:xfrm>
          <a:prstGeom prst="rect">
            <a:avLst/>
          </a:prstGeom>
          <a:noFill/>
          <a:ln/>
        </p:spPr>
        <p:txBody>
          <a:bodyPr wrap="square" rtlCol="0" anchor="ctr"/>
          <a:lstStyle/>
          <a:p>
            <a:pPr algn="ctr" indent="0" marL="0">
              <a:buNone/>
            </a:pPr>
            <a:r>
              <a:rPr lang="en-US" sz="1100" b="1" dirty="0">
                <a:solidFill>
                  <a:srgbClr val="C5EBE0"/>
                </a:solidFill>
                <a:latin typeface="Georgia" pitchFamily="34" charset="0"/>
                <a:ea typeface="Georgia" pitchFamily="34" charset="-122"/>
                <a:cs typeface="Georgia" pitchFamily="34" charset="-120"/>
              </a:rPr>
              <a:t>1</a:t>
            </a:r>
            <a:endParaRPr lang="en-US" sz="1100" dirty="0"/>
          </a:p>
        </p:txBody>
      </p:sp>
      <p:sp>
        <p:nvSpPr>
          <p:cNvPr id="10" name="Text 8"/>
          <p:cNvSpPr/>
          <p:nvPr/>
        </p:nvSpPr>
        <p:spPr>
          <a:xfrm>
            <a:off x="694944" y="1517904"/>
            <a:ext cx="2557272" cy="713232"/>
          </a:xfrm>
          <a:prstGeom prst="rect">
            <a:avLst/>
          </a:prstGeom>
          <a:noFill/>
          <a:ln/>
        </p:spPr>
        <p:txBody>
          <a:bodyPr wrap="square" rtlCol="0" anchor="t"/>
          <a:lstStyle/>
          <a:p>
            <a:pPr indent="0" marL="0">
              <a:lnSpc>
                <a:spcPct val="100000"/>
              </a:lnSpc>
              <a:buNone/>
            </a:pPr>
            <a:r>
              <a:rPr lang="en-US" sz="1150" b="1" dirty="0">
                <a:solidFill>
                  <a:srgbClr val="C5EBE0"/>
                </a:solidFill>
                <a:latin typeface="Calibri" pitchFamily="34" charset="0"/>
                <a:ea typeface="Calibri" pitchFamily="34" charset="-122"/>
                <a:cs typeface="Calibri" pitchFamily="34" charset="-120"/>
              </a:rPr>
              <a:t>NESO pull
</a:t>
            </a:r>
            <a:pPr indent="0" marL="0">
              <a:lnSpc>
                <a:spcPct val="100000"/>
              </a:lnSpc>
              <a:buNone/>
            </a:pPr>
            <a:r>
              <a:rPr lang="en-US" sz="930" dirty="0">
                <a:solidFill>
                  <a:srgbClr val="7AADA0"/>
                </a:solidFill>
                <a:latin typeface="Calibri" pitchFamily="34" charset="0"/>
                <a:ea typeface="Calibri" pitchFamily="34" charset="-122"/>
                <a:cs typeface="Calibri" pitchFamily="34" charset="-120"/>
              </a:rPr>
              <a:t>National carbon intensity plus published emission factors: the reference series.</a:t>
            </a:r>
            <a:endParaRPr lang="en-US" sz="1150" dirty="0"/>
          </a:p>
        </p:txBody>
      </p:sp>
      <p:sp>
        <p:nvSpPr>
          <p:cNvPr id="11" name="Shape 9"/>
          <p:cNvSpPr/>
          <p:nvPr/>
        </p:nvSpPr>
        <p:spPr>
          <a:xfrm>
            <a:off x="310896" y="2249424"/>
            <a:ext cx="274320" cy="274320"/>
          </a:xfrm>
          <a:prstGeom prst="ellipse">
            <a:avLst/>
          </a:prstGeom>
          <a:solidFill>
            <a:srgbClr val="00875A"/>
          </a:solidFill>
          <a:ln/>
        </p:spPr>
      </p:sp>
      <p:sp>
        <p:nvSpPr>
          <p:cNvPr id="12" name="Text 10"/>
          <p:cNvSpPr/>
          <p:nvPr/>
        </p:nvSpPr>
        <p:spPr>
          <a:xfrm>
            <a:off x="310896" y="2249424"/>
            <a:ext cx="274320" cy="274320"/>
          </a:xfrm>
          <a:prstGeom prst="rect">
            <a:avLst/>
          </a:prstGeom>
          <a:noFill/>
          <a:ln/>
        </p:spPr>
        <p:txBody>
          <a:bodyPr wrap="square" rtlCol="0" anchor="ctr"/>
          <a:lstStyle/>
          <a:p>
            <a:pPr algn="ctr" indent="0" marL="0">
              <a:buNone/>
            </a:pPr>
            <a:r>
              <a:rPr lang="en-US" sz="1100" b="1" dirty="0">
                <a:solidFill>
                  <a:srgbClr val="C5EBE0"/>
                </a:solidFill>
                <a:latin typeface="Georgia" pitchFamily="34" charset="0"/>
                <a:ea typeface="Georgia" pitchFamily="34" charset="-122"/>
                <a:cs typeface="Georgia" pitchFamily="34" charset="-120"/>
              </a:rPr>
              <a:t>2</a:t>
            </a:r>
            <a:endParaRPr lang="en-US" sz="1100" dirty="0"/>
          </a:p>
        </p:txBody>
      </p:sp>
      <p:sp>
        <p:nvSpPr>
          <p:cNvPr id="13" name="Text 11"/>
          <p:cNvSpPr/>
          <p:nvPr/>
        </p:nvSpPr>
        <p:spPr>
          <a:xfrm>
            <a:off x="694944" y="2231136"/>
            <a:ext cx="2557272" cy="713232"/>
          </a:xfrm>
          <a:prstGeom prst="rect">
            <a:avLst/>
          </a:prstGeom>
          <a:noFill/>
          <a:ln/>
        </p:spPr>
        <p:txBody>
          <a:bodyPr wrap="square" rtlCol="0" anchor="t"/>
          <a:lstStyle/>
          <a:p>
            <a:pPr indent="0" marL="0">
              <a:lnSpc>
                <a:spcPct val="100000"/>
              </a:lnSpc>
              <a:buNone/>
            </a:pPr>
            <a:r>
              <a:rPr lang="en-US" sz="1150" b="1" dirty="0">
                <a:solidFill>
                  <a:srgbClr val="C5EBE0"/>
                </a:solidFill>
                <a:latin typeface="Calibri" pitchFamily="34" charset="0"/>
                <a:ea typeface="Calibri" pitchFamily="34" charset="-122"/>
                <a:cs typeface="Calibri" pitchFamily="34" charset="-120"/>
              </a:rPr>
              <a:t>PyPSA-GB solve
</a:t>
            </a:r>
            <a:pPr indent="0" marL="0">
              <a:lnSpc>
                <a:spcPct val="100000"/>
              </a:lnSpc>
              <a:buNone/>
            </a:pPr>
            <a:r>
              <a:rPr lang="en-US" sz="930" dirty="0">
                <a:solidFill>
                  <a:srgbClr val="7AADA0"/>
                </a:solidFill>
                <a:latin typeface="Calibri" pitchFamily="34" charset="0"/>
                <a:ea typeface="Calibri" pitchFamily="34" charset="-122"/>
                <a:cs typeface="Calibri" pitchFamily="34" charset="-120"/>
              </a:rPr>
              <a:t>Linear-program economic dispatch on each topology, full-year 2023, Gurobi.</a:t>
            </a:r>
            <a:endParaRPr lang="en-US" sz="1150" dirty="0"/>
          </a:p>
        </p:txBody>
      </p:sp>
      <p:sp>
        <p:nvSpPr>
          <p:cNvPr id="14" name="Shape 12"/>
          <p:cNvSpPr/>
          <p:nvPr/>
        </p:nvSpPr>
        <p:spPr>
          <a:xfrm>
            <a:off x="310896" y="2962656"/>
            <a:ext cx="274320" cy="274320"/>
          </a:xfrm>
          <a:prstGeom prst="ellipse">
            <a:avLst/>
          </a:prstGeom>
          <a:solidFill>
            <a:srgbClr val="00875A"/>
          </a:solidFill>
          <a:ln/>
        </p:spPr>
      </p:sp>
      <p:sp>
        <p:nvSpPr>
          <p:cNvPr id="15" name="Text 13"/>
          <p:cNvSpPr/>
          <p:nvPr/>
        </p:nvSpPr>
        <p:spPr>
          <a:xfrm>
            <a:off x="310896" y="2962656"/>
            <a:ext cx="274320" cy="274320"/>
          </a:xfrm>
          <a:prstGeom prst="rect">
            <a:avLst/>
          </a:prstGeom>
          <a:noFill/>
          <a:ln/>
        </p:spPr>
        <p:txBody>
          <a:bodyPr wrap="square" rtlCol="0" anchor="ctr"/>
          <a:lstStyle/>
          <a:p>
            <a:pPr algn="ctr" indent="0" marL="0">
              <a:buNone/>
            </a:pPr>
            <a:r>
              <a:rPr lang="en-US" sz="1100" b="1" dirty="0">
                <a:solidFill>
                  <a:srgbClr val="C5EBE0"/>
                </a:solidFill>
                <a:latin typeface="Georgia" pitchFamily="34" charset="0"/>
                <a:ea typeface="Georgia" pitchFamily="34" charset="-122"/>
                <a:cs typeface="Georgia" pitchFamily="34" charset="-120"/>
              </a:rPr>
              <a:t>3</a:t>
            </a:r>
            <a:endParaRPr lang="en-US" sz="1100" dirty="0"/>
          </a:p>
        </p:txBody>
      </p:sp>
      <p:sp>
        <p:nvSpPr>
          <p:cNvPr id="16" name="Text 14"/>
          <p:cNvSpPr/>
          <p:nvPr/>
        </p:nvSpPr>
        <p:spPr>
          <a:xfrm>
            <a:off x="694944" y="2944368"/>
            <a:ext cx="2557272" cy="713232"/>
          </a:xfrm>
          <a:prstGeom prst="rect">
            <a:avLst/>
          </a:prstGeom>
          <a:noFill/>
          <a:ln/>
        </p:spPr>
        <p:txBody>
          <a:bodyPr wrap="square" rtlCol="0" anchor="t"/>
          <a:lstStyle/>
          <a:p>
            <a:pPr indent="0" marL="0">
              <a:lnSpc>
                <a:spcPct val="100000"/>
              </a:lnSpc>
              <a:buNone/>
            </a:pPr>
            <a:r>
              <a:rPr lang="en-US" sz="1150" b="1" dirty="0">
                <a:solidFill>
                  <a:srgbClr val="C5EBE0"/>
                </a:solidFill>
                <a:latin typeface="Calibri" pitchFamily="34" charset="0"/>
                <a:ea typeface="Calibri" pitchFamily="34" charset="-122"/>
                <a:cs typeface="Calibri" pitchFamily="34" charset="-120"/>
              </a:rPr>
              <a:t>Carbon intensity
</a:t>
            </a:r>
            <a:pPr indent="0" marL="0">
              <a:lnSpc>
                <a:spcPct val="100000"/>
              </a:lnSpc>
              <a:buNone/>
            </a:pPr>
            <a:r>
              <a:rPr lang="en-US" sz="930" dirty="0">
                <a:solidFill>
                  <a:srgbClr val="7AADA0"/>
                </a:solidFill>
                <a:latin typeface="Calibri" pitchFamily="34" charset="0"/>
                <a:ea typeface="Calibri" pitchFamily="34" charset="-122"/>
                <a:cs typeface="Calibri" pitchFamily="34" charset="-120"/>
              </a:rPr>
              <a:t>NESO factors applied to dispatched generation, summed every hour.</a:t>
            </a:r>
            <a:endParaRPr lang="en-US" sz="1150" dirty="0"/>
          </a:p>
        </p:txBody>
      </p:sp>
      <p:sp>
        <p:nvSpPr>
          <p:cNvPr id="17" name="Shape 15"/>
          <p:cNvSpPr/>
          <p:nvPr/>
        </p:nvSpPr>
        <p:spPr>
          <a:xfrm>
            <a:off x="310896" y="3675888"/>
            <a:ext cx="274320" cy="274320"/>
          </a:xfrm>
          <a:prstGeom prst="ellipse">
            <a:avLst/>
          </a:prstGeom>
          <a:solidFill>
            <a:srgbClr val="00875A"/>
          </a:solidFill>
          <a:ln/>
        </p:spPr>
      </p:sp>
      <p:sp>
        <p:nvSpPr>
          <p:cNvPr id="18" name="Text 16"/>
          <p:cNvSpPr/>
          <p:nvPr/>
        </p:nvSpPr>
        <p:spPr>
          <a:xfrm>
            <a:off x="310896" y="3675888"/>
            <a:ext cx="274320" cy="274320"/>
          </a:xfrm>
          <a:prstGeom prst="rect">
            <a:avLst/>
          </a:prstGeom>
          <a:noFill/>
          <a:ln/>
        </p:spPr>
        <p:txBody>
          <a:bodyPr wrap="square" rtlCol="0" anchor="ctr"/>
          <a:lstStyle/>
          <a:p>
            <a:pPr algn="ctr" indent="0" marL="0">
              <a:buNone/>
            </a:pPr>
            <a:r>
              <a:rPr lang="en-US" sz="1100" b="1" dirty="0">
                <a:solidFill>
                  <a:srgbClr val="C5EBE0"/>
                </a:solidFill>
                <a:latin typeface="Georgia" pitchFamily="34" charset="0"/>
                <a:ea typeface="Georgia" pitchFamily="34" charset="-122"/>
                <a:cs typeface="Georgia" pitchFamily="34" charset="-120"/>
              </a:rPr>
              <a:t>4</a:t>
            </a:r>
            <a:endParaRPr lang="en-US" sz="1100" dirty="0"/>
          </a:p>
        </p:txBody>
      </p:sp>
      <p:sp>
        <p:nvSpPr>
          <p:cNvPr id="19" name="Text 17"/>
          <p:cNvSpPr/>
          <p:nvPr/>
        </p:nvSpPr>
        <p:spPr>
          <a:xfrm>
            <a:off x="694944" y="3657600"/>
            <a:ext cx="2557272" cy="713232"/>
          </a:xfrm>
          <a:prstGeom prst="rect">
            <a:avLst/>
          </a:prstGeom>
          <a:noFill/>
          <a:ln/>
        </p:spPr>
        <p:txBody>
          <a:bodyPr wrap="square" rtlCol="0" anchor="t"/>
          <a:lstStyle/>
          <a:p>
            <a:pPr indent="0" marL="0">
              <a:lnSpc>
                <a:spcPct val="100000"/>
              </a:lnSpc>
              <a:buNone/>
            </a:pPr>
            <a:r>
              <a:rPr lang="en-US" sz="1150" b="1" dirty="0">
                <a:solidFill>
                  <a:srgbClr val="C5EBE0"/>
                </a:solidFill>
                <a:latin typeface="Calibri" pitchFamily="34" charset="0"/>
                <a:ea typeface="Calibri" pitchFamily="34" charset="-122"/>
                <a:cs typeface="Calibri" pitchFamily="34" charset="-120"/>
              </a:rPr>
              <a:t>Align
</a:t>
            </a:r>
            <a:pPr indent="0" marL="0">
              <a:lnSpc>
                <a:spcPct val="100000"/>
              </a:lnSpc>
              <a:buNone/>
            </a:pPr>
            <a:r>
              <a:rPr lang="en-US" sz="930" dirty="0">
                <a:solidFill>
                  <a:srgbClr val="7AADA0"/>
                </a:solidFill>
                <a:latin typeface="Calibri" pitchFamily="34" charset="0"/>
                <a:ea typeface="Calibri" pitchFamily="34" charset="-122"/>
                <a:cs typeface="Calibri" pitchFamily="34" charset="-120"/>
              </a:rPr>
              <a:t>Hourly UTC, model against NESO, 8,713 matched hours of 2023.</a:t>
            </a:r>
            <a:endParaRPr lang="en-US" sz="1150" dirty="0"/>
          </a:p>
        </p:txBody>
      </p:sp>
      <p:sp>
        <p:nvSpPr>
          <p:cNvPr id="20" name="Shape 18"/>
          <p:cNvSpPr/>
          <p:nvPr/>
        </p:nvSpPr>
        <p:spPr>
          <a:xfrm>
            <a:off x="310896" y="4389120"/>
            <a:ext cx="274320" cy="274320"/>
          </a:xfrm>
          <a:prstGeom prst="ellipse">
            <a:avLst/>
          </a:prstGeom>
          <a:solidFill>
            <a:srgbClr val="00875A"/>
          </a:solidFill>
          <a:ln/>
        </p:spPr>
      </p:sp>
      <p:sp>
        <p:nvSpPr>
          <p:cNvPr id="21" name="Text 19"/>
          <p:cNvSpPr/>
          <p:nvPr/>
        </p:nvSpPr>
        <p:spPr>
          <a:xfrm>
            <a:off x="310896" y="4389120"/>
            <a:ext cx="274320" cy="274320"/>
          </a:xfrm>
          <a:prstGeom prst="rect">
            <a:avLst/>
          </a:prstGeom>
          <a:noFill/>
          <a:ln/>
        </p:spPr>
        <p:txBody>
          <a:bodyPr wrap="square" rtlCol="0" anchor="ctr"/>
          <a:lstStyle/>
          <a:p>
            <a:pPr algn="ctr" indent="0" marL="0">
              <a:buNone/>
            </a:pPr>
            <a:r>
              <a:rPr lang="en-US" sz="1100" b="1" dirty="0">
                <a:solidFill>
                  <a:srgbClr val="C5EBE0"/>
                </a:solidFill>
                <a:latin typeface="Georgia" pitchFamily="34" charset="0"/>
                <a:ea typeface="Georgia" pitchFamily="34" charset="-122"/>
                <a:cs typeface="Georgia" pitchFamily="34" charset="-120"/>
              </a:rPr>
              <a:t>5</a:t>
            </a:r>
            <a:endParaRPr lang="en-US" sz="1100" dirty="0"/>
          </a:p>
        </p:txBody>
      </p:sp>
      <p:sp>
        <p:nvSpPr>
          <p:cNvPr id="22" name="Text 20"/>
          <p:cNvSpPr/>
          <p:nvPr/>
        </p:nvSpPr>
        <p:spPr>
          <a:xfrm>
            <a:off x="694944" y="4370832"/>
            <a:ext cx="2557272" cy="713232"/>
          </a:xfrm>
          <a:prstGeom prst="rect">
            <a:avLst/>
          </a:prstGeom>
          <a:noFill/>
          <a:ln/>
        </p:spPr>
        <p:txBody>
          <a:bodyPr wrap="square" rtlCol="0" anchor="t"/>
          <a:lstStyle/>
          <a:p>
            <a:pPr indent="0" marL="0">
              <a:lnSpc>
                <a:spcPct val="100000"/>
              </a:lnSpc>
              <a:buNone/>
            </a:pPr>
            <a:r>
              <a:rPr lang="en-US" sz="1150" b="1" dirty="0">
                <a:solidFill>
                  <a:srgbClr val="C5EBE0"/>
                </a:solidFill>
                <a:latin typeface="Calibri" pitchFamily="34" charset="0"/>
                <a:ea typeface="Calibri" pitchFamily="34" charset="-122"/>
                <a:cs typeface="Calibri" pitchFamily="34" charset="-120"/>
              </a:rPr>
              <a:t>Compare
</a:t>
            </a:r>
            <a:pPr indent="0" marL="0">
              <a:lnSpc>
                <a:spcPct val="100000"/>
              </a:lnSpc>
              <a:buNone/>
            </a:pPr>
            <a:r>
              <a:rPr lang="en-US" sz="930" dirty="0">
                <a:solidFill>
                  <a:srgbClr val="7AADA0"/>
                </a:solidFill>
                <a:latin typeface="Calibri" pitchFamily="34" charset="0"/>
                <a:ea typeface="Calibri" pitchFamily="34" charset="-122"/>
                <a:cs typeface="Calibri" pitchFamily="34" charset="-120"/>
              </a:rPr>
              <a:t>Heatmap and interactive dashboard across the four topologies.</a:t>
            </a:r>
            <a:endParaRPr lang="en-US" sz="1150" dirty="0"/>
          </a:p>
        </p:txBody>
      </p:sp>
      <p:sp>
        <p:nvSpPr>
          <p:cNvPr id="23" name="Shape 21"/>
          <p:cNvSpPr/>
          <p:nvPr/>
        </p:nvSpPr>
        <p:spPr>
          <a:xfrm>
            <a:off x="310896" y="5138928"/>
            <a:ext cx="2941320" cy="841248"/>
          </a:xfrm>
          <a:prstGeom prst="roundRect">
            <a:avLst>
              <a:gd name="adj" fmla="val 6522"/>
            </a:avLst>
          </a:prstGeom>
          <a:solidFill>
            <a:srgbClr val="0F3324"/>
          </a:solidFill>
          <a:ln w="12700">
            <a:solidFill>
              <a:srgbClr val="1C4A38"/>
            </a:solidFill>
            <a:prstDash val="solid"/>
          </a:ln>
        </p:spPr>
      </p:sp>
      <p:sp>
        <p:nvSpPr>
          <p:cNvPr id="24" name="Text 22"/>
          <p:cNvSpPr/>
          <p:nvPr/>
        </p:nvSpPr>
        <p:spPr>
          <a:xfrm>
            <a:off x="457200" y="5212080"/>
            <a:ext cx="2648712" cy="694944"/>
          </a:xfrm>
          <a:prstGeom prst="rect">
            <a:avLst/>
          </a:prstGeom>
          <a:noFill/>
          <a:ln/>
        </p:spPr>
        <p:txBody>
          <a:bodyPr wrap="square" rtlCol="0" anchor="ctr"/>
          <a:lstStyle/>
          <a:p>
            <a:pPr indent="0" marL="0">
              <a:lnSpc>
                <a:spcPct val="103000"/>
              </a:lnSpc>
              <a:buNone/>
            </a:pPr>
            <a:r>
              <a:rPr lang="en-US" sz="920" dirty="0">
                <a:solidFill>
                  <a:srgbClr val="C5EBE0"/>
                </a:solidFill>
                <a:latin typeface="Calibri" pitchFamily="34" charset="0"/>
                <a:ea typeface="Calibri" pitchFamily="34" charset="-122"/>
                <a:cs typeface="Calibri" pitchFamily="34" charset="-120"/>
              </a:rPr>
              <a:t>Default settings: no demand uplift, linear dispatch (no unit commitment), Gurobi LP, pinned PyPSA-GB commit 074ea25e. Every result is regeneratable from the repo.</a:t>
            </a:r>
            <a:endParaRPr lang="en-US" sz="920" dirty="0"/>
          </a:p>
        </p:txBody>
      </p:sp>
      <p:sp>
        <p:nvSpPr>
          <p:cNvPr id="25" name="Text 23"/>
          <p:cNvSpPr/>
          <p:nvPr/>
        </p:nvSpPr>
        <p:spPr>
          <a:xfrm>
            <a:off x="310896" y="6126480"/>
            <a:ext cx="2941320" cy="640080"/>
          </a:xfrm>
          <a:prstGeom prst="rect">
            <a:avLst/>
          </a:prstGeom>
          <a:noFill/>
          <a:ln/>
        </p:spPr>
        <p:txBody>
          <a:bodyPr wrap="square" rtlCol="0" anchor="t"/>
          <a:lstStyle/>
          <a:p>
            <a:pPr indent="0" marL="0">
              <a:lnSpc>
                <a:spcPct val="105000"/>
              </a:lnSpc>
              <a:buNone/>
            </a:pPr>
            <a:r>
              <a:rPr lang="en-US" sz="930" b="1" dirty="0">
                <a:solidFill>
                  <a:srgbClr val="00C49A"/>
                </a:solidFill>
                <a:latin typeface="Calibri" pitchFamily="34" charset="0"/>
                <a:ea typeface="Calibri" pitchFamily="34" charset="-122"/>
                <a:cs typeface="Calibri" pitchFamily="34" charset="-120"/>
              </a:rPr>
              <a:t>Emission factors (gCO2/kWh):  </a:t>
            </a:r>
            <a:pPr indent="0" marL="0">
              <a:lnSpc>
                <a:spcPct val="105000"/>
              </a:lnSpc>
              <a:buNone/>
            </a:pPr>
            <a:r>
              <a:rPr lang="en-US" sz="930" dirty="0">
                <a:solidFill>
                  <a:srgbClr val="C5EBE0"/>
                </a:solidFill>
                <a:latin typeface="Calibri" pitchFamily="34" charset="0"/>
                <a:ea typeface="Calibri" pitchFamily="34" charset="-122"/>
                <a:cs typeface="Calibri" pitchFamily="34" charset="-120"/>
              </a:rPr>
              <a:t>wind/solar/nuclear 0  ·  biomass 120  ·  CCGT 394  ·  coal 937</a:t>
            </a:r>
            <a:endParaRPr lang="en-US" sz="930" dirty="0"/>
          </a:p>
        </p:txBody>
      </p:sp>
      <p:sp>
        <p:nvSpPr>
          <p:cNvPr id="26" name="Text 24"/>
          <p:cNvSpPr/>
          <p:nvPr/>
        </p:nvSpPr>
        <p:spPr>
          <a:xfrm>
            <a:off x="310896" y="7242048"/>
            <a:ext cx="2941320" cy="274320"/>
          </a:xfrm>
          <a:prstGeom prst="rect">
            <a:avLst/>
          </a:prstGeom>
          <a:noFill/>
          <a:ln/>
        </p:spPr>
        <p:txBody>
          <a:bodyPr wrap="square" rtlCol="0" anchor="ctr"/>
          <a:lstStyle/>
          <a:p>
            <a:pPr algn="l" indent="0" marL="0">
              <a:buNone/>
            </a:pPr>
            <a:r>
              <a:rPr lang="en-US" sz="850" spc="100" kern="0" dirty="0">
                <a:solidFill>
                  <a:srgbClr val="7AADA0"/>
                </a:solidFill>
                <a:latin typeface="Calibri" pitchFamily="34" charset="0"/>
                <a:ea typeface="Calibri" pitchFamily="34" charset="-122"/>
                <a:cs typeface="Calibri" pitchFamily="34" charset="-120"/>
              </a:rPr>
              <a:t>PyPSA-GB  ·  NESO Carbon Intensity API  ·  Gurobi</a:t>
            </a:r>
            <a:endParaRPr lang="en-US" sz="850" dirty="0"/>
          </a:p>
        </p:txBody>
      </p:sp>
      <p:sp>
        <p:nvSpPr>
          <p:cNvPr id="27" name="Shape 25"/>
          <p:cNvSpPr/>
          <p:nvPr/>
        </p:nvSpPr>
        <p:spPr>
          <a:xfrm>
            <a:off x="3874008" y="384048"/>
            <a:ext cx="384048" cy="384048"/>
          </a:xfrm>
          <a:prstGeom prst="ellipse">
            <a:avLst/>
          </a:prstGeom>
          <a:solidFill>
            <a:srgbClr val="00C49A"/>
          </a:solidFill>
          <a:ln/>
        </p:spPr>
      </p:sp>
      <p:sp>
        <p:nvSpPr>
          <p:cNvPr id="28" name="Text 26"/>
          <p:cNvSpPr/>
          <p:nvPr/>
        </p:nvSpPr>
        <p:spPr>
          <a:xfrm>
            <a:off x="3874008" y="384048"/>
            <a:ext cx="384048" cy="384048"/>
          </a:xfrm>
          <a:prstGeom prst="rect">
            <a:avLst/>
          </a:prstGeom>
          <a:noFill/>
          <a:ln/>
        </p:spPr>
        <p:txBody>
          <a:bodyPr wrap="square" lIns="0" tIns="0" rIns="0" bIns="0" rtlCol="0" anchor="ctr"/>
          <a:lstStyle/>
          <a:p>
            <a:pPr algn="ctr" indent="0" marL="0">
              <a:buNone/>
            </a:pPr>
            <a:r>
              <a:rPr lang="en-US" sz="1300" b="1" dirty="0">
                <a:solidFill>
                  <a:srgbClr val="0D2B1F"/>
                </a:solidFill>
                <a:latin typeface="Georgia" pitchFamily="34" charset="0"/>
                <a:ea typeface="Georgia" pitchFamily="34" charset="-122"/>
                <a:cs typeface="Georgia" pitchFamily="34" charset="-120"/>
              </a:rPr>
              <a:t>05</a:t>
            </a:r>
            <a:endParaRPr lang="en-US" sz="1300" dirty="0"/>
          </a:p>
        </p:txBody>
      </p:sp>
      <p:sp>
        <p:nvSpPr>
          <p:cNvPr id="29" name="Text 27"/>
          <p:cNvSpPr/>
          <p:nvPr/>
        </p:nvSpPr>
        <p:spPr>
          <a:xfrm>
            <a:off x="4349496" y="384048"/>
            <a:ext cx="2484120" cy="384048"/>
          </a:xfrm>
          <a:prstGeom prst="rect">
            <a:avLst/>
          </a:prstGeom>
          <a:noFill/>
          <a:ln/>
        </p:spPr>
        <p:txBody>
          <a:bodyPr wrap="square" rtlCol="0" anchor="ctr"/>
          <a:lstStyle/>
          <a:p>
            <a:pPr algn="l" indent="0" marL="0">
              <a:buNone/>
            </a:pPr>
            <a:r>
              <a:rPr lang="en-US" sz="1050" b="1" spc="200" kern="0" dirty="0">
                <a:solidFill>
                  <a:srgbClr val="00C49A"/>
                </a:solidFill>
                <a:latin typeface="Calibri" pitchFamily="34" charset="0"/>
                <a:ea typeface="Calibri" pitchFamily="34" charset="-122"/>
                <a:cs typeface="Calibri" pitchFamily="34" charset="-120"/>
              </a:rPr>
              <a:t>THE TEAM</a:t>
            </a:r>
            <a:endParaRPr lang="en-US" sz="1050" dirty="0"/>
          </a:p>
        </p:txBody>
      </p:sp>
      <p:sp>
        <p:nvSpPr>
          <p:cNvPr id="30" name="Text 28"/>
          <p:cNvSpPr/>
          <p:nvPr/>
        </p:nvSpPr>
        <p:spPr>
          <a:xfrm>
            <a:off x="3874008" y="896112"/>
            <a:ext cx="2941320" cy="502920"/>
          </a:xfrm>
          <a:prstGeom prst="rect">
            <a:avLst/>
          </a:prstGeom>
          <a:noFill/>
          <a:ln/>
        </p:spPr>
        <p:txBody>
          <a:bodyPr wrap="square" rtlCol="0" anchor="t"/>
          <a:lstStyle/>
          <a:p>
            <a:pPr indent="0" marL="0">
              <a:buNone/>
            </a:pPr>
            <a:r>
              <a:rPr lang="en-US" sz="1800" b="1" dirty="0">
                <a:solidFill>
                  <a:srgbClr val="C5EBE0"/>
                </a:solidFill>
                <a:latin typeface="Georgia" pitchFamily="34" charset="0"/>
                <a:ea typeface="Georgia" pitchFamily="34" charset="-122"/>
                <a:cs typeface="Georgia" pitchFamily="34" charset="-120"/>
              </a:rPr>
              <a:t>Who built this</a:t>
            </a:r>
            <a:endParaRPr lang="en-US" sz="1800" dirty="0"/>
          </a:p>
        </p:txBody>
      </p:sp>
      <p:sp>
        <p:nvSpPr>
          <p:cNvPr id="31" name="Text 29"/>
          <p:cNvSpPr/>
          <p:nvPr/>
        </p:nvSpPr>
        <p:spPr>
          <a:xfrm>
            <a:off x="3874008" y="1463040"/>
            <a:ext cx="2941320" cy="822960"/>
          </a:xfrm>
          <a:prstGeom prst="rect">
            <a:avLst/>
          </a:prstGeom>
          <a:noFill/>
          <a:ln/>
        </p:spPr>
        <p:txBody>
          <a:bodyPr wrap="square" rtlCol="0" anchor="t"/>
          <a:lstStyle/>
          <a:p>
            <a:pPr indent="0" marL="0">
              <a:lnSpc>
                <a:spcPct val="105000"/>
              </a:lnSpc>
              <a:buNone/>
            </a:pPr>
            <a:r>
              <a:rPr lang="en-US" sz="1100" dirty="0">
                <a:solidFill>
                  <a:srgbClr val="C5EBE0"/>
                </a:solidFill>
                <a:latin typeface="Calibri" pitchFamily="34" charset="0"/>
                <a:ea typeface="Calibri" pitchFamily="34" charset="-122"/>
                <a:cs typeface="Calibri" pitchFamily="34" charset="-120"/>
              </a:rPr>
              <a:t>An Imperial College London EEE group project (ELEC60014), in collaboration with the National Energy System Operator.</a:t>
            </a:r>
            <a:endParaRPr lang="en-US" sz="1100" dirty="0"/>
          </a:p>
        </p:txBody>
      </p:sp>
      <p:sp>
        <p:nvSpPr>
          <p:cNvPr id="32" name="Shape 30"/>
          <p:cNvSpPr/>
          <p:nvPr/>
        </p:nvSpPr>
        <p:spPr>
          <a:xfrm>
            <a:off x="3874008" y="2459736"/>
            <a:ext cx="109728" cy="109728"/>
          </a:xfrm>
          <a:prstGeom prst="ellipse">
            <a:avLst/>
          </a:prstGeom>
          <a:solidFill>
            <a:srgbClr val="00C49A"/>
          </a:solidFill>
          <a:ln/>
        </p:spPr>
      </p:sp>
      <p:sp>
        <p:nvSpPr>
          <p:cNvPr id="33" name="Text 31"/>
          <p:cNvSpPr/>
          <p:nvPr/>
        </p:nvSpPr>
        <p:spPr>
          <a:xfrm>
            <a:off x="4075176" y="2395728"/>
            <a:ext cx="1269492" cy="310896"/>
          </a:xfrm>
          <a:prstGeom prst="rect">
            <a:avLst/>
          </a:prstGeom>
          <a:noFill/>
          <a:ln/>
        </p:spPr>
        <p:txBody>
          <a:bodyPr wrap="square" rtlCol="0" anchor="ctr"/>
          <a:lstStyle/>
          <a:p>
            <a:pPr indent="0" marL="0">
              <a:buNone/>
            </a:pPr>
            <a:r>
              <a:rPr lang="en-US" sz="1350" dirty="0">
                <a:solidFill>
                  <a:srgbClr val="C5EBE0"/>
                </a:solidFill>
                <a:latin typeface="Georgia" pitchFamily="34" charset="0"/>
                <a:ea typeface="Georgia" pitchFamily="34" charset="-122"/>
                <a:cs typeface="Georgia" pitchFamily="34" charset="-120"/>
              </a:rPr>
              <a:t>Mert</a:t>
            </a:r>
            <a:endParaRPr lang="en-US" sz="1350" dirty="0"/>
          </a:p>
        </p:txBody>
      </p:sp>
      <p:sp>
        <p:nvSpPr>
          <p:cNvPr id="34" name="Shape 32"/>
          <p:cNvSpPr/>
          <p:nvPr/>
        </p:nvSpPr>
        <p:spPr>
          <a:xfrm>
            <a:off x="5344668" y="2459736"/>
            <a:ext cx="109728" cy="109728"/>
          </a:xfrm>
          <a:prstGeom prst="ellipse">
            <a:avLst/>
          </a:prstGeom>
          <a:solidFill>
            <a:srgbClr val="00C49A"/>
          </a:solidFill>
          <a:ln/>
        </p:spPr>
      </p:sp>
      <p:sp>
        <p:nvSpPr>
          <p:cNvPr id="35" name="Text 33"/>
          <p:cNvSpPr/>
          <p:nvPr/>
        </p:nvSpPr>
        <p:spPr>
          <a:xfrm>
            <a:off x="5545836" y="2395728"/>
            <a:ext cx="1269492" cy="310896"/>
          </a:xfrm>
          <a:prstGeom prst="rect">
            <a:avLst/>
          </a:prstGeom>
          <a:noFill/>
          <a:ln/>
        </p:spPr>
        <p:txBody>
          <a:bodyPr wrap="square" rtlCol="0" anchor="ctr"/>
          <a:lstStyle/>
          <a:p>
            <a:pPr indent="0" marL="0">
              <a:buNone/>
            </a:pPr>
            <a:r>
              <a:rPr lang="en-US" sz="1350" dirty="0">
                <a:solidFill>
                  <a:srgbClr val="C5EBE0"/>
                </a:solidFill>
                <a:latin typeface="Georgia" pitchFamily="34" charset="0"/>
                <a:ea typeface="Georgia" pitchFamily="34" charset="-122"/>
                <a:cs typeface="Georgia" pitchFamily="34" charset="-120"/>
              </a:rPr>
              <a:t>Annie</a:t>
            </a:r>
            <a:endParaRPr lang="en-US" sz="1350" dirty="0"/>
          </a:p>
        </p:txBody>
      </p:sp>
      <p:sp>
        <p:nvSpPr>
          <p:cNvPr id="36" name="Shape 34"/>
          <p:cNvSpPr/>
          <p:nvPr/>
        </p:nvSpPr>
        <p:spPr>
          <a:xfrm>
            <a:off x="3874008" y="2971800"/>
            <a:ext cx="109728" cy="109728"/>
          </a:xfrm>
          <a:prstGeom prst="ellipse">
            <a:avLst/>
          </a:prstGeom>
          <a:solidFill>
            <a:srgbClr val="00C49A"/>
          </a:solidFill>
          <a:ln/>
        </p:spPr>
      </p:sp>
      <p:sp>
        <p:nvSpPr>
          <p:cNvPr id="37" name="Text 35"/>
          <p:cNvSpPr/>
          <p:nvPr/>
        </p:nvSpPr>
        <p:spPr>
          <a:xfrm>
            <a:off x="4075176" y="2907792"/>
            <a:ext cx="1269492" cy="310896"/>
          </a:xfrm>
          <a:prstGeom prst="rect">
            <a:avLst/>
          </a:prstGeom>
          <a:noFill/>
          <a:ln/>
        </p:spPr>
        <p:txBody>
          <a:bodyPr wrap="square" rtlCol="0" anchor="ctr"/>
          <a:lstStyle/>
          <a:p>
            <a:pPr indent="0" marL="0">
              <a:buNone/>
            </a:pPr>
            <a:r>
              <a:rPr lang="en-US" sz="1350" dirty="0">
                <a:solidFill>
                  <a:srgbClr val="C5EBE0"/>
                </a:solidFill>
                <a:latin typeface="Georgia" pitchFamily="34" charset="0"/>
                <a:ea typeface="Georgia" pitchFamily="34" charset="-122"/>
                <a:cs typeface="Georgia" pitchFamily="34" charset="-120"/>
              </a:rPr>
              <a:t>Ava</a:t>
            </a:r>
            <a:endParaRPr lang="en-US" sz="1350" dirty="0"/>
          </a:p>
        </p:txBody>
      </p:sp>
      <p:sp>
        <p:nvSpPr>
          <p:cNvPr id="38" name="Shape 36"/>
          <p:cNvSpPr/>
          <p:nvPr/>
        </p:nvSpPr>
        <p:spPr>
          <a:xfrm>
            <a:off x="5344668" y="2971800"/>
            <a:ext cx="109728" cy="109728"/>
          </a:xfrm>
          <a:prstGeom prst="ellipse">
            <a:avLst/>
          </a:prstGeom>
          <a:solidFill>
            <a:srgbClr val="00C49A"/>
          </a:solidFill>
          <a:ln/>
        </p:spPr>
      </p:sp>
      <p:sp>
        <p:nvSpPr>
          <p:cNvPr id="39" name="Text 37"/>
          <p:cNvSpPr/>
          <p:nvPr/>
        </p:nvSpPr>
        <p:spPr>
          <a:xfrm>
            <a:off x="5545836" y="2907792"/>
            <a:ext cx="1269492" cy="310896"/>
          </a:xfrm>
          <a:prstGeom prst="rect">
            <a:avLst/>
          </a:prstGeom>
          <a:noFill/>
          <a:ln/>
        </p:spPr>
        <p:txBody>
          <a:bodyPr wrap="square" rtlCol="0" anchor="ctr"/>
          <a:lstStyle/>
          <a:p>
            <a:pPr indent="0" marL="0">
              <a:buNone/>
            </a:pPr>
            <a:r>
              <a:rPr lang="en-US" sz="1350" dirty="0">
                <a:solidFill>
                  <a:srgbClr val="C5EBE0"/>
                </a:solidFill>
                <a:latin typeface="Georgia" pitchFamily="34" charset="0"/>
                <a:ea typeface="Georgia" pitchFamily="34" charset="-122"/>
                <a:cs typeface="Georgia" pitchFamily="34" charset="-120"/>
              </a:rPr>
              <a:t>Matthew</a:t>
            </a:r>
            <a:endParaRPr lang="en-US" sz="1350" dirty="0"/>
          </a:p>
        </p:txBody>
      </p:sp>
      <p:sp>
        <p:nvSpPr>
          <p:cNvPr id="40" name="Shape 38"/>
          <p:cNvSpPr/>
          <p:nvPr/>
        </p:nvSpPr>
        <p:spPr>
          <a:xfrm>
            <a:off x="3874008" y="3483864"/>
            <a:ext cx="109728" cy="109728"/>
          </a:xfrm>
          <a:prstGeom prst="ellipse">
            <a:avLst/>
          </a:prstGeom>
          <a:solidFill>
            <a:srgbClr val="00C49A"/>
          </a:solidFill>
          <a:ln/>
        </p:spPr>
      </p:sp>
      <p:sp>
        <p:nvSpPr>
          <p:cNvPr id="41" name="Text 39"/>
          <p:cNvSpPr/>
          <p:nvPr/>
        </p:nvSpPr>
        <p:spPr>
          <a:xfrm>
            <a:off x="4075176" y="3419856"/>
            <a:ext cx="1269492" cy="310896"/>
          </a:xfrm>
          <a:prstGeom prst="rect">
            <a:avLst/>
          </a:prstGeom>
          <a:noFill/>
          <a:ln/>
        </p:spPr>
        <p:txBody>
          <a:bodyPr wrap="square" rtlCol="0" anchor="ctr"/>
          <a:lstStyle/>
          <a:p>
            <a:pPr indent="0" marL="0">
              <a:buNone/>
            </a:pPr>
            <a:r>
              <a:rPr lang="en-US" sz="1350" dirty="0">
                <a:solidFill>
                  <a:srgbClr val="C5EBE0"/>
                </a:solidFill>
                <a:latin typeface="Georgia" pitchFamily="34" charset="0"/>
                <a:ea typeface="Georgia" pitchFamily="34" charset="-122"/>
                <a:cs typeface="Georgia" pitchFamily="34" charset="-120"/>
              </a:rPr>
              <a:t>Momo</a:t>
            </a:r>
            <a:endParaRPr lang="en-US" sz="1350" dirty="0"/>
          </a:p>
        </p:txBody>
      </p:sp>
      <p:sp>
        <p:nvSpPr>
          <p:cNvPr id="42" name="Shape 40"/>
          <p:cNvSpPr/>
          <p:nvPr/>
        </p:nvSpPr>
        <p:spPr>
          <a:xfrm>
            <a:off x="5344668" y="3483864"/>
            <a:ext cx="109728" cy="109728"/>
          </a:xfrm>
          <a:prstGeom prst="ellipse">
            <a:avLst/>
          </a:prstGeom>
          <a:solidFill>
            <a:srgbClr val="00C49A"/>
          </a:solidFill>
          <a:ln/>
        </p:spPr>
      </p:sp>
      <p:sp>
        <p:nvSpPr>
          <p:cNvPr id="43" name="Text 41"/>
          <p:cNvSpPr/>
          <p:nvPr/>
        </p:nvSpPr>
        <p:spPr>
          <a:xfrm>
            <a:off x="5545836" y="3419856"/>
            <a:ext cx="1269492" cy="310896"/>
          </a:xfrm>
          <a:prstGeom prst="rect">
            <a:avLst/>
          </a:prstGeom>
          <a:noFill/>
          <a:ln/>
        </p:spPr>
        <p:txBody>
          <a:bodyPr wrap="square" rtlCol="0" anchor="ctr"/>
          <a:lstStyle/>
          <a:p>
            <a:pPr indent="0" marL="0">
              <a:buNone/>
            </a:pPr>
            <a:r>
              <a:rPr lang="en-US" sz="1350" dirty="0">
                <a:solidFill>
                  <a:srgbClr val="C5EBE0"/>
                </a:solidFill>
                <a:latin typeface="Georgia" pitchFamily="34" charset="0"/>
                <a:ea typeface="Georgia" pitchFamily="34" charset="-122"/>
                <a:cs typeface="Georgia" pitchFamily="34" charset="-120"/>
              </a:rPr>
              <a:t>Adnan</a:t>
            </a:r>
            <a:endParaRPr lang="en-US" sz="1350" dirty="0"/>
          </a:p>
        </p:txBody>
      </p:sp>
      <p:sp>
        <p:nvSpPr>
          <p:cNvPr id="44" name="Text 42"/>
          <p:cNvSpPr/>
          <p:nvPr/>
        </p:nvSpPr>
        <p:spPr>
          <a:xfrm>
            <a:off x="3874008" y="4343400"/>
            <a:ext cx="2941320" cy="320040"/>
          </a:xfrm>
          <a:prstGeom prst="rect">
            <a:avLst/>
          </a:prstGeom>
          <a:noFill/>
          <a:ln/>
        </p:spPr>
        <p:txBody>
          <a:bodyPr wrap="square" rtlCol="0" anchor="ctr"/>
          <a:lstStyle/>
          <a:p>
            <a:pPr indent="0" marL="0">
              <a:buNone/>
            </a:pPr>
            <a:r>
              <a:rPr lang="en-US" sz="1050" i="1" dirty="0">
                <a:solidFill>
                  <a:srgbClr val="7AADA0"/>
                </a:solidFill>
                <a:latin typeface="Calibri" pitchFamily="34" charset="0"/>
                <a:ea typeface="Calibri" pitchFamily="34" charset="-122"/>
                <a:cs typeface="Calibri" pitchFamily="34" charset="-120"/>
              </a:rPr>
              <a:t>Open-source and reproducible, built on PyPSA-GB.</a:t>
            </a:r>
            <a:endParaRPr lang="en-US" sz="1050" dirty="0"/>
          </a:p>
        </p:txBody>
      </p:sp>
      <p:sp>
        <p:nvSpPr>
          <p:cNvPr id="45" name="Text 43"/>
          <p:cNvSpPr/>
          <p:nvPr/>
        </p:nvSpPr>
        <p:spPr>
          <a:xfrm>
            <a:off x="3874008" y="5120640"/>
            <a:ext cx="980440" cy="457200"/>
          </a:xfrm>
          <a:prstGeom prst="rect">
            <a:avLst/>
          </a:prstGeom>
          <a:noFill/>
          <a:ln/>
        </p:spPr>
        <p:txBody>
          <a:bodyPr wrap="square" lIns="0" tIns="0" rIns="0" bIns="0" rtlCol="0" anchor="ctr"/>
          <a:lstStyle/>
          <a:p>
            <a:pPr algn="ctr" indent="0" marL="0">
              <a:buNone/>
            </a:pPr>
            <a:r>
              <a:rPr lang="en-US" sz="1900" b="1" dirty="0">
                <a:solidFill>
                  <a:srgbClr val="00C49A"/>
                </a:solidFill>
                <a:latin typeface="Georgia" pitchFamily="34" charset="0"/>
                <a:ea typeface="Georgia" pitchFamily="34" charset="-122"/>
                <a:cs typeface="Georgia" pitchFamily="34" charset="-120"/>
              </a:rPr>
              <a:t>4</a:t>
            </a:r>
            <a:endParaRPr lang="en-US" sz="1900" dirty="0"/>
          </a:p>
        </p:txBody>
      </p:sp>
      <p:sp>
        <p:nvSpPr>
          <p:cNvPr id="46" name="Text 44"/>
          <p:cNvSpPr/>
          <p:nvPr/>
        </p:nvSpPr>
        <p:spPr>
          <a:xfrm>
            <a:off x="3874008" y="5596128"/>
            <a:ext cx="980440" cy="274320"/>
          </a:xfrm>
          <a:prstGeom prst="rect">
            <a:avLst/>
          </a:prstGeom>
          <a:noFill/>
          <a:ln/>
        </p:spPr>
        <p:txBody>
          <a:bodyPr wrap="square" rtlCol="0" anchor="ctr"/>
          <a:lstStyle/>
          <a:p>
            <a:pPr algn="ctr" indent="0" marL="0">
              <a:buNone/>
            </a:pPr>
            <a:r>
              <a:rPr lang="en-US" sz="900" dirty="0">
                <a:solidFill>
                  <a:srgbClr val="7AADA0"/>
                </a:solidFill>
                <a:latin typeface="Calibri" pitchFamily="34" charset="0"/>
                <a:ea typeface="Calibri" pitchFamily="34" charset="-122"/>
                <a:cs typeface="Calibri" pitchFamily="34" charset="-120"/>
              </a:rPr>
              <a:t>topologies</a:t>
            </a:r>
            <a:endParaRPr lang="en-US" sz="900" dirty="0"/>
          </a:p>
        </p:txBody>
      </p:sp>
      <p:sp>
        <p:nvSpPr>
          <p:cNvPr id="47" name="Text 45"/>
          <p:cNvSpPr/>
          <p:nvPr/>
        </p:nvSpPr>
        <p:spPr>
          <a:xfrm>
            <a:off x="4854448" y="5120640"/>
            <a:ext cx="980440" cy="457200"/>
          </a:xfrm>
          <a:prstGeom prst="rect">
            <a:avLst/>
          </a:prstGeom>
          <a:noFill/>
          <a:ln/>
        </p:spPr>
        <p:txBody>
          <a:bodyPr wrap="square" lIns="0" tIns="0" rIns="0" bIns="0" rtlCol="0" anchor="ctr"/>
          <a:lstStyle/>
          <a:p>
            <a:pPr algn="ctr" indent="0" marL="0">
              <a:buNone/>
            </a:pPr>
            <a:r>
              <a:rPr lang="en-US" sz="1900" b="1" dirty="0">
                <a:solidFill>
                  <a:srgbClr val="00C49A"/>
                </a:solidFill>
                <a:latin typeface="Georgia" pitchFamily="34" charset="0"/>
                <a:ea typeface="Georgia" pitchFamily="34" charset="-122"/>
                <a:cs typeface="Georgia" pitchFamily="34" charset="-120"/>
              </a:rPr>
              <a:t>2,130</a:t>
            </a:r>
            <a:endParaRPr lang="en-US" sz="1900" dirty="0"/>
          </a:p>
        </p:txBody>
      </p:sp>
      <p:sp>
        <p:nvSpPr>
          <p:cNvPr id="48" name="Text 46"/>
          <p:cNvSpPr/>
          <p:nvPr/>
        </p:nvSpPr>
        <p:spPr>
          <a:xfrm>
            <a:off x="4854448" y="5596128"/>
            <a:ext cx="980440" cy="274320"/>
          </a:xfrm>
          <a:prstGeom prst="rect">
            <a:avLst/>
          </a:prstGeom>
          <a:noFill/>
          <a:ln/>
        </p:spPr>
        <p:txBody>
          <a:bodyPr wrap="square" rtlCol="0" anchor="ctr"/>
          <a:lstStyle/>
          <a:p>
            <a:pPr algn="ctr" indent="0" marL="0">
              <a:buNone/>
            </a:pPr>
            <a:r>
              <a:rPr lang="en-US" sz="900" dirty="0">
                <a:solidFill>
                  <a:srgbClr val="7AADA0"/>
                </a:solidFill>
                <a:latin typeface="Calibri" pitchFamily="34" charset="0"/>
                <a:ea typeface="Calibri" pitchFamily="34" charset="-122"/>
                <a:cs typeface="Calibri" pitchFamily="34" charset="-120"/>
              </a:rPr>
              <a:t>buses (ETYS)</a:t>
            </a:r>
            <a:endParaRPr lang="en-US" sz="900" dirty="0"/>
          </a:p>
        </p:txBody>
      </p:sp>
      <p:sp>
        <p:nvSpPr>
          <p:cNvPr id="49" name="Text 47"/>
          <p:cNvSpPr/>
          <p:nvPr/>
        </p:nvSpPr>
        <p:spPr>
          <a:xfrm>
            <a:off x="5834888" y="5120640"/>
            <a:ext cx="980440" cy="457200"/>
          </a:xfrm>
          <a:prstGeom prst="rect">
            <a:avLst/>
          </a:prstGeom>
          <a:noFill/>
          <a:ln/>
        </p:spPr>
        <p:txBody>
          <a:bodyPr wrap="square" lIns="0" tIns="0" rIns="0" bIns="0" rtlCol="0" anchor="ctr"/>
          <a:lstStyle/>
          <a:p>
            <a:pPr algn="ctr" indent="0" marL="0">
              <a:buNone/>
            </a:pPr>
            <a:r>
              <a:rPr lang="en-US" sz="1900" b="1" dirty="0">
                <a:solidFill>
                  <a:srgbClr val="00C49A"/>
                </a:solidFill>
                <a:latin typeface="Georgia" pitchFamily="34" charset="0"/>
                <a:ea typeface="Georgia" pitchFamily="34" charset="-122"/>
                <a:cs typeface="Georgia" pitchFamily="34" charset="-120"/>
              </a:rPr>
              <a:t>8,760</a:t>
            </a:r>
            <a:endParaRPr lang="en-US" sz="1900" dirty="0"/>
          </a:p>
        </p:txBody>
      </p:sp>
      <p:sp>
        <p:nvSpPr>
          <p:cNvPr id="50" name="Text 48"/>
          <p:cNvSpPr/>
          <p:nvPr/>
        </p:nvSpPr>
        <p:spPr>
          <a:xfrm>
            <a:off x="5834888" y="5596128"/>
            <a:ext cx="980440" cy="274320"/>
          </a:xfrm>
          <a:prstGeom prst="rect">
            <a:avLst/>
          </a:prstGeom>
          <a:noFill/>
          <a:ln/>
        </p:spPr>
        <p:txBody>
          <a:bodyPr wrap="square" rtlCol="0" anchor="ctr"/>
          <a:lstStyle/>
          <a:p>
            <a:pPr algn="ctr" indent="0" marL="0">
              <a:buNone/>
            </a:pPr>
            <a:r>
              <a:rPr lang="en-US" sz="900" dirty="0">
                <a:solidFill>
                  <a:srgbClr val="7AADA0"/>
                </a:solidFill>
                <a:latin typeface="Calibri" pitchFamily="34" charset="0"/>
                <a:ea typeface="Calibri" pitchFamily="34" charset="-122"/>
                <a:cs typeface="Calibri" pitchFamily="34" charset="-120"/>
              </a:rPr>
              <a:t>hours</a:t>
            </a:r>
            <a:endParaRPr lang="en-US" sz="900" dirty="0"/>
          </a:p>
        </p:txBody>
      </p:sp>
      <p:sp>
        <p:nvSpPr>
          <p:cNvPr id="51" name="Shape 49"/>
          <p:cNvSpPr/>
          <p:nvPr/>
        </p:nvSpPr>
        <p:spPr>
          <a:xfrm>
            <a:off x="3874008" y="6355080"/>
            <a:ext cx="2941320" cy="475488"/>
          </a:xfrm>
          <a:prstGeom prst="roundRect">
            <a:avLst>
              <a:gd name="adj" fmla="val 15385"/>
            </a:avLst>
          </a:prstGeom>
          <a:solidFill>
            <a:srgbClr val="0F3324"/>
          </a:solidFill>
          <a:ln w="12700">
            <a:solidFill>
              <a:srgbClr val="00C49A"/>
            </a:solidFill>
            <a:prstDash val="solid"/>
          </a:ln>
        </p:spPr>
      </p:sp>
      <p:sp>
        <p:nvSpPr>
          <p:cNvPr id="52" name="Text 50"/>
          <p:cNvSpPr/>
          <p:nvPr/>
        </p:nvSpPr>
        <p:spPr>
          <a:xfrm>
            <a:off x="3874008" y="6355080"/>
            <a:ext cx="2941320" cy="475488"/>
          </a:xfrm>
          <a:prstGeom prst="rect">
            <a:avLst/>
          </a:prstGeom>
          <a:noFill/>
          <a:ln/>
        </p:spPr>
        <p:txBody>
          <a:bodyPr wrap="square" rtlCol="0" anchor="ctr"/>
          <a:lstStyle/>
          <a:p>
            <a:pPr algn="ctr" indent="0" marL="0">
              <a:buNone/>
            </a:pPr>
            <a:r>
              <a:rPr lang="en-US" sz="1100" b="1" dirty="0">
                <a:solidFill>
                  <a:srgbClr val="00C49A"/>
                </a:solidFill>
                <a:latin typeface="Calibri" pitchFamily="34" charset="0"/>
                <a:ea typeface="Calibri" pitchFamily="34" charset="-122"/>
                <a:cs typeface="Calibri" pitchFamily="34" charset="-120"/>
              </a:rPr>
              <a:t>github.com/avagm/neso-carbon-intensity</a:t>
            </a:r>
            <a:endParaRPr lang="en-US" sz="1100" dirty="0"/>
          </a:p>
        </p:txBody>
      </p:sp>
      <p:sp>
        <p:nvSpPr>
          <p:cNvPr id="53" name="Text 51"/>
          <p:cNvSpPr/>
          <p:nvPr/>
        </p:nvSpPr>
        <p:spPr>
          <a:xfrm>
            <a:off x="3874008" y="7242048"/>
            <a:ext cx="2941320" cy="274320"/>
          </a:xfrm>
          <a:prstGeom prst="rect">
            <a:avLst/>
          </a:prstGeom>
          <a:noFill/>
          <a:ln/>
        </p:spPr>
        <p:txBody>
          <a:bodyPr wrap="square" rtlCol="0" anchor="ctr"/>
          <a:lstStyle/>
          <a:p>
            <a:pPr algn="l" indent="0" marL="0">
              <a:buNone/>
            </a:pPr>
            <a:r>
              <a:rPr lang="en-US" sz="850" spc="100" kern="0" dirty="0">
                <a:solidFill>
                  <a:srgbClr val="7AADA0"/>
                </a:solidFill>
                <a:latin typeface="Calibri" pitchFamily="34" charset="0"/>
                <a:ea typeface="Calibri" pitchFamily="34" charset="-122"/>
                <a:cs typeface="Calibri" pitchFamily="34" charset="-120"/>
              </a:rPr>
              <a:t>Imperial College London  ·  May 2026</a:t>
            </a:r>
            <a:endParaRPr lang="en-US" sz="850" dirty="0"/>
          </a:p>
        </p:txBody>
      </p:sp>
      <p:sp>
        <p:nvSpPr>
          <p:cNvPr id="54" name="Shape 52"/>
          <p:cNvSpPr/>
          <p:nvPr/>
        </p:nvSpPr>
        <p:spPr>
          <a:xfrm>
            <a:off x="7437120" y="384048"/>
            <a:ext cx="384048" cy="384048"/>
          </a:xfrm>
          <a:prstGeom prst="ellipse">
            <a:avLst/>
          </a:prstGeom>
          <a:solidFill>
            <a:srgbClr val="00C49A"/>
          </a:solidFill>
          <a:ln/>
        </p:spPr>
      </p:sp>
      <p:sp>
        <p:nvSpPr>
          <p:cNvPr id="55" name="Text 53"/>
          <p:cNvSpPr/>
          <p:nvPr/>
        </p:nvSpPr>
        <p:spPr>
          <a:xfrm>
            <a:off x="7437120" y="384048"/>
            <a:ext cx="384048" cy="384048"/>
          </a:xfrm>
          <a:prstGeom prst="rect">
            <a:avLst/>
          </a:prstGeom>
          <a:noFill/>
          <a:ln/>
        </p:spPr>
        <p:txBody>
          <a:bodyPr wrap="square" lIns="0" tIns="0" rIns="0" bIns="0" rtlCol="0" anchor="ctr"/>
          <a:lstStyle/>
          <a:p>
            <a:pPr algn="ctr" indent="0" marL="0">
              <a:buNone/>
            </a:pPr>
            <a:r>
              <a:rPr lang="en-US" sz="1300" b="1" dirty="0">
                <a:solidFill>
                  <a:srgbClr val="0D2B1F"/>
                </a:solidFill>
                <a:latin typeface="Georgia" pitchFamily="34" charset="0"/>
                <a:ea typeface="Georgia" pitchFamily="34" charset="-122"/>
                <a:cs typeface="Georgia" pitchFamily="34" charset="-120"/>
              </a:rPr>
              <a:t>06</a:t>
            </a:r>
            <a:endParaRPr lang="en-US" sz="1300" dirty="0"/>
          </a:p>
        </p:txBody>
      </p:sp>
      <p:sp>
        <p:nvSpPr>
          <p:cNvPr id="56" name="Text 54"/>
          <p:cNvSpPr/>
          <p:nvPr/>
        </p:nvSpPr>
        <p:spPr>
          <a:xfrm>
            <a:off x="7912608" y="384048"/>
            <a:ext cx="2484120" cy="384048"/>
          </a:xfrm>
          <a:prstGeom prst="rect">
            <a:avLst/>
          </a:prstGeom>
          <a:noFill/>
          <a:ln/>
        </p:spPr>
        <p:txBody>
          <a:bodyPr wrap="square" rtlCol="0" anchor="ctr"/>
          <a:lstStyle/>
          <a:p>
            <a:pPr algn="l" indent="0" marL="0">
              <a:buNone/>
            </a:pPr>
            <a:r>
              <a:rPr lang="en-US" sz="1050" b="1" spc="200" kern="0" dirty="0">
                <a:solidFill>
                  <a:srgbClr val="00C49A"/>
                </a:solidFill>
                <a:latin typeface="Calibri" pitchFamily="34" charset="0"/>
                <a:ea typeface="Calibri" pitchFamily="34" charset="-122"/>
                <a:cs typeface="Calibri" pitchFamily="34" charset="-120"/>
              </a:rPr>
              <a:t>IN SUMMARY</a:t>
            </a:r>
            <a:endParaRPr lang="en-US" sz="1050" dirty="0"/>
          </a:p>
        </p:txBody>
      </p:sp>
      <p:sp>
        <p:nvSpPr>
          <p:cNvPr id="57" name="Text 55"/>
          <p:cNvSpPr/>
          <p:nvPr/>
        </p:nvSpPr>
        <p:spPr>
          <a:xfrm>
            <a:off x="7437120" y="896112"/>
            <a:ext cx="2941320" cy="502920"/>
          </a:xfrm>
          <a:prstGeom prst="rect">
            <a:avLst/>
          </a:prstGeom>
          <a:noFill/>
          <a:ln/>
        </p:spPr>
        <p:txBody>
          <a:bodyPr wrap="square" rtlCol="0" anchor="t"/>
          <a:lstStyle/>
          <a:p>
            <a:pPr indent="0" marL="0">
              <a:buNone/>
            </a:pPr>
            <a:r>
              <a:rPr lang="en-US" sz="1800" b="1" dirty="0">
                <a:solidFill>
                  <a:srgbClr val="C5EBE0"/>
                </a:solidFill>
                <a:latin typeface="Georgia" pitchFamily="34" charset="0"/>
                <a:ea typeface="Georgia" pitchFamily="34" charset="-122"/>
                <a:cs typeface="Georgia" pitchFamily="34" charset="-120"/>
              </a:rPr>
              <a:t>What the comparison shows</a:t>
            </a:r>
            <a:endParaRPr lang="en-US" sz="1800" dirty="0"/>
          </a:p>
        </p:txBody>
      </p:sp>
      <p:sp>
        <p:nvSpPr>
          <p:cNvPr id="58" name="Text 56"/>
          <p:cNvSpPr/>
          <p:nvPr/>
        </p:nvSpPr>
        <p:spPr>
          <a:xfrm>
            <a:off x="7437120" y="1481328"/>
            <a:ext cx="2941320" cy="2697480"/>
          </a:xfrm>
          <a:prstGeom prst="rect">
            <a:avLst/>
          </a:prstGeom>
          <a:noFill/>
          <a:ln/>
        </p:spPr>
        <p:txBody>
          <a:bodyPr wrap="square" rtlCol="0" anchor="t"/>
          <a:lstStyle/>
          <a:p>
            <a:pPr indent="0" marL="0">
              <a:lnSpc>
                <a:spcPct val="106000"/>
              </a:lnSpc>
              <a:spcAft>
                <a:spcPts val="600"/>
              </a:spcAft>
              <a:buNone/>
            </a:pPr>
            <a:r>
              <a:rPr lang="en-US" sz="1050" b="1" dirty="0">
                <a:solidFill>
                  <a:srgbClr val="00C49A"/>
                </a:solidFill>
                <a:latin typeface="Calibri" pitchFamily="34" charset="0"/>
                <a:ea typeface="Calibri" pitchFamily="34" charset="-122"/>
                <a:cs typeface="Calibri" pitchFamily="34" charset="-120"/>
              </a:rPr>
              <a:t>›  </a:t>
            </a:r>
            <a:pPr indent="0" marL="0">
              <a:lnSpc>
                <a:spcPct val="106000"/>
              </a:lnSpc>
              <a:spcAft>
                <a:spcPts val="600"/>
              </a:spcAft>
              <a:buNone/>
            </a:pPr>
            <a:r>
              <a:rPr lang="en-US" sz="1050" dirty="0">
                <a:solidFill>
                  <a:srgbClr val="C5EBE0"/>
                </a:solidFill>
                <a:latin typeface="Calibri" pitchFamily="34" charset="0"/>
                <a:ea typeface="Calibri" pitchFamily="34" charset="-122"/>
                <a:cs typeface="Calibri" pitchFamily="34" charset="-120"/>
              </a:rPr>
              <a:t>Network detail matters: 32-bus constraints lift annual-mean intensity by ~10 gCO2/kWh over an unconstrained copperplate.
</a:t>
            </a:r>
            <a:pPr indent="0" marL="0">
              <a:lnSpc>
                <a:spcPct val="106000"/>
              </a:lnSpc>
              <a:spcAft>
                <a:spcPts val="600"/>
              </a:spcAft>
              <a:buNone/>
            </a:pPr>
            <a:r>
              <a:rPr lang="en-US" sz="1050" b="1" dirty="0">
                <a:solidFill>
                  <a:srgbClr val="00C49A"/>
                </a:solidFill>
                <a:latin typeface="Calibri" pitchFamily="34" charset="0"/>
                <a:ea typeface="Calibri" pitchFamily="34" charset="-122"/>
                <a:cs typeface="Calibri" pitchFamily="34" charset="-120"/>
              </a:rPr>
              <a:t>›  </a:t>
            </a:r>
            <a:pPr indent="0" marL="0">
              <a:lnSpc>
                <a:spcPct val="106000"/>
              </a:lnSpc>
              <a:spcAft>
                <a:spcPts val="600"/>
              </a:spcAft>
              <a:buNone/>
            </a:pPr>
            <a:r>
              <a:rPr lang="en-US" sz="1050" dirty="0">
                <a:solidFill>
                  <a:srgbClr val="C5EBE0"/>
                </a:solidFill>
                <a:latin typeface="Calibri" pitchFamily="34" charset="0"/>
                <a:ea typeface="Calibri" pitchFamily="34" charset="-122"/>
                <a:cs typeface="Calibri" pitchFamily="34" charset="-120"/>
              </a:rPr>
              <a:t>17 and 32 bus agree on the annual mean (within 2 gCO2/kWh) but differ hour to hour by ~16 on average.
</a:t>
            </a:r>
            <a:pPr indent="0" marL="0">
              <a:lnSpc>
                <a:spcPct val="106000"/>
              </a:lnSpc>
              <a:spcAft>
                <a:spcPts val="600"/>
              </a:spcAft>
              <a:buNone/>
            </a:pPr>
            <a:r>
              <a:rPr lang="en-US" sz="1050" b="1" dirty="0">
                <a:solidFill>
                  <a:srgbClr val="00C49A"/>
                </a:solidFill>
                <a:latin typeface="Calibri" pitchFamily="34" charset="0"/>
                <a:ea typeface="Calibri" pitchFamily="34" charset="-122"/>
                <a:cs typeface="Calibri" pitchFamily="34" charset="-120"/>
              </a:rPr>
              <a:t>›  </a:t>
            </a:r>
            <a:pPr indent="0" marL="0">
              <a:lnSpc>
                <a:spcPct val="106000"/>
              </a:lnSpc>
              <a:spcAft>
                <a:spcPts val="600"/>
              </a:spcAft>
              <a:buNone/>
            </a:pPr>
            <a:r>
              <a:rPr lang="en-US" sz="1050" dirty="0">
                <a:solidFill>
                  <a:srgbClr val="C5EBE0"/>
                </a:solidFill>
                <a:latin typeface="Calibri" pitchFamily="34" charset="0"/>
                <a:ea typeface="Calibri" pitchFamily="34" charset="-122"/>
                <a:cs typeface="Calibri" pitchFamily="34" charset="-120"/>
              </a:rPr>
              <a:t>Reduced 32-bus tracks NESO best: R 0.936, RMSE 28.3 gCO2/kWh.
</a:t>
            </a:r>
            <a:pPr indent="0" marL="0">
              <a:lnSpc>
                <a:spcPct val="106000"/>
              </a:lnSpc>
              <a:spcAft>
                <a:spcPts val="600"/>
              </a:spcAft>
              <a:buNone/>
            </a:pPr>
            <a:r>
              <a:rPr lang="en-US" sz="1050" b="1" dirty="0">
                <a:solidFill>
                  <a:srgbClr val="00C49A"/>
                </a:solidFill>
                <a:latin typeface="Calibri" pitchFamily="34" charset="0"/>
                <a:ea typeface="Calibri" pitchFamily="34" charset="-122"/>
                <a:cs typeface="Calibri" pitchFamily="34" charset="-120"/>
              </a:rPr>
              <a:t>›  </a:t>
            </a:r>
            <a:pPr indent="0" marL="0">
              <a:lnSpc>
                <a:spcPct val="106000"/>
              </a:lnSpc>
              <a:spcAft>
                <a:spcPts val="600"/>
              </a:spcAft>
              <a:buNone/>
            </a:pPr>
            <a:r>
              <a:rPr lang="en-US" sz="1050" dirty="0">
                <a:solidFill>
                  <a:srgbClr val="C5EBE0"/>
                </a:solidFill>
                <a:latin typeface="Calibri" pitchFamily="34" charset="0"/>
                <a:ea typeface="Calibri" pitchFamily="34" charset="-122"/>
                <a:cs typeface="Calibri" pitchFamily="34" charset="-120"/>
              </a:rPr>
              <a:t>Full ETYS 2,000-bus (provisional) carries a real congestion signature: +37 gCO2/kWh vs NESO.</a:t>
            </a:r>
            <a:endParaRPr lang="en-US" sz="1050" dirty="0"/>
          </a:p>
        </p:txBody>
      </p:sp>
      <p:sp>
        <p:nvSpPr>
          <p:cNvPr id="59" name="Shape 57"/>
          <p:cNvSpPr/>
          <p:nvPr/>
        </p:nvSpPr>
        <p:spPr>
          <a:xfrm>
            <a:off x="7437120" y="4315968"/>
            <a:ext cx="2941320" cy="2148840"/>
          </a:xfrm>
          <a:prstGeom prst="roundRect">
            <a:avLst>
              <a:gd name="adj" fmla="val 2553"/>
            </a:avLst>
          </a:prstGeom>
          <a:solidFill>
            <a:srgbClr val="0F3324"/>
          </a:solidFill>
          <a:ln w="12700">
            <a:solidFill>
              <a:srgbClr val="1C4A38"/>
            </a:solidFill>
            <a:prstDash val="solid"/>
          </a:ln>
        </p:spPr>
      </p:sp>
      <p:sp>
        <p:nvSpPr>
          <p:cNvPr id="60" name="Text 58"/>
          <p:cNvSpPr/>
          <p:nvPr/>
        </p:nvSpPr>
        <p:spPr>
          <a:xfrm>
            <a:off x="7601712" y="4425696"/>
            <a:ext cx="2612136" cy="1920240"/>
          </a:xfrm>
          <a:prstGeom prst="rect">
            <a:avLst/>
          </a:prstGeom>
          <a:noFill/>
          <a:ln/>
        </p:spPr>
        <p:txBody>
          <a:bodyPr wrap="square" rtlCol="0" anchor="t"/>
          <a:lstStyle/>
          <a:p>
            <a:pPr indent="0" marL="0">
              <a:lnSpc>
                <a:spcPct val="105000"/>
              </a:lnSpc>
              <a:buNone/>
            </a:pPr>
            <a:r>
              <a:rPr lang="en-US" sz="1050" b="1" dirty="0">
                <a:solidFill>
                  <a:srgbClr val="00C49A"/>
                </a:solidFill>
                <a:latin typeface="Calibri" pitchFamily="34" charset="0"/>
                <a:ea typeface="Calibri" pitchFamily="34" charset="-122"/>
                <a:cs typeface="Calibri" pitchFamily="34" charset="-120"/>
              </a:rPr>
              <a:t>Disclaimer
</a:t>
            </a:r>
            <a:pPr indent="0" marL="0">
              <a:lnSpc>
                <a:spcPct val="105000"/>
              </a:lnSpc>
              <a:buNone/>
            </a:pPr>
            <a:r>
              <a:rPr lang="en-US" sz="920" dirty="0">
                <a:solidFill>
                  <a:srgbClr val="C5EBE0"/>
                </a:solidFill>
                <a:latin typeface="Calibri" pitchFamily="34" charset="0"/>
                <a:ea typeface="Calibri" pitchFamily="34" charset="-122"/>
                <a:cs typeface="Calibri" pitchFamily="34" charset="-120"/>
              </a:rPr>
              <a:t>Independent academic study using PyPSA-GB and the NESO Carbon Intensity API. Results are the authors' own and are not produced, endorsed, or validated by NESO. Under default settings (no demand uplift, linear dispatch) the modelled series sit 7 to 9 gCO2/kWh below NESO; the study isolates network topology, not a match to NESO. ETYS 2,000-bus is a provisional interior-point solve.</a:t>
            </a:r>
            <a:endParaRPr lang="en-US" sz="1050" dirty="0"/>
          </a:p>
        </p:txBody>
      </p:sp>
      <p:sp>
        <p:nvSpPr>
          <p:cNvPr id="61" name="Text 59"/>
          <p:cNvSpPr/>
          <p:nvPr/>
        </p:nvSpPr>
        <p:spPr>
          <a:xfrm>
            <a:off x="7437120" y="6583680"/>
            <a:ext cx="2941320" cy="320040"/>
          </a:xfrm>
          <a:prstGeom prst="rect">
            <a:avLst/>
          </a:prstGeom>
          <a:noFill/>
          <a:ln/>
        </p:spPr>
        <p:txBody>
          <a:bodyPr wrap="square" rtlCol="0" anchor="ctr"/>
          <a:lstStyle/>
          <a:p>
            <a:pPr indent="0" marL="0">
              <a:buNone/>
            </a:pPr>
            <a:r>
              <a:rPr lang="en-US" sz="800" dirty="0">
                <a:solidFill>
                  <a:srgbClr val="7AADA0"/>
                </a:solidFill>
                <a:latin typeface="Calibri" pitchFamily="34" charset="0"/>
                <a:ea typeface="Calibri" pitchFamily="34" charset="-122"/>
                <a:cs typeface="Calibri" pitchFamily="34" charset="-120"/>
              </a:rPr>
              <a:t>Full year 2023  ·  PyPSA-GB commit 074ea25e  ·  gCO2 per kWh throughout.</a:t>
            </a:r>
            <a:endParaRPr lang="en-US" sz="800" dirty="0"/>
          </a:p>
        </p:txBody>
      </p:sp>
      <p:sp>
        <p:nvSpPr>
          <p:cNvPr id="62" name="Text 60"/>
          <p:cNvSpPr/>
          <p:nvPr/>
        </p:nvSpPr>
        <p:spPr>
          <a:xfrm>
            <a:off x="7437120" y="7242048"/>
            <a:ext cx="2941320" cy="274320"/>
          </a:xfrm>
          <a:prstGeom prst="rect">
            <a:avLst/>
          </a:prstGeom>
          <a:noFill/>
          <a:ln/>
        </p:spPr>
        <p:txBody>
          <a:bodyPr wrap="square" rtlCol="0" anchor="ctr"/>
          <a:lstStyle/>
          <a:p>
            <a:pPr algn="l" indent="0" marL="0">
              <a:buNone/>
            </a:pPr>
            <a:r>
              <a:rPr lang="en-US" sz="850" spc="100" kern="0" dirty="0">
                <a:solidFill>
                  <a:srgbClr val="7AADA0"/>
                </a:solidFill>
                <a:latin typeface="Calibri" pitchFamily="34" charset="0"/>
                <a:ea typeface="Calibri" pitchFamily="34" charset="-122"/>
                <a:cs typeface="Calibri" pitchFamily="34" charset="-120"/>
              </a:rPr>
              <a:t>github.com/avagm/neso-carbon-intensity</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2026-06-03T10:39:58Z</dcterms:created>
  <dcterms:modified xsi:type="dcterms:W3CDTF">2026-06-03T10:39:58Z</dcterms:modified>
</cp:coreProperties>
</file>