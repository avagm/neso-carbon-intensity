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6858000" cy="9693275"/>
  <p:notesSz cx="9693275"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5BBE78-990B-480E-A1CC-C917EFA81765}" v="3" dt="2026-05-26T10:06:15.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8" autoAdjust="0"/>
    <p:restoredTop sz="94610"/>
  </p:normalViewPr>
  <p:slideViewPr>
    <p:cSldViewPr snapToGrid="0" snapToObjects="1">
      <p:cViewPr varScale="1">
        <p:scale>
          <a:sx n="113" d="100"/>
          <a:sy n="113" d="100"/>
        </p:scale>
        <p:origin x="99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1872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320040" y="109728"/>
            <a:ext cx="4114800" cy="182880"/>
          </a:xfrm>
          <a:prstGeom prst="rect">
            <a:avLst/>
          </a:prstGeom>
          <a:noFill/>
          <a:ln/>
        </p:spPr>
        <p:txBody>
          <a:bodyPr wrap="square" rtlCol="0" anchor="ctr"/>
          <a:lstStyle/>
          <a:p>
            <a:pPr marL="0" indent="0">
              <a:buNone/>
            </a:pPr>
            <a:r>
              <a:rPr lang="en-US" sz="650" kern="0" spc="100" dirty="0">
                <a:solidFill>
                  <a:srgbClr val="88AACC"/>
                </a:solidFill>
                <a:latin typeface="Calibri" pitchFamily="34" charset="0"/>
                <a:ea typeface="Calibri" pitchFamily="34" charset="-122"/>
                <a:cs typeface="Calibri" pitchFamily="34" charset="-120"/>
              </a:rPr>
              <a:t>Imperial College London  ·  ELEC60014  ·  Group Project</a:t>
            </a:r>
            <a:endParaRPr lang="en-US" sz="650" dirty="0"/>
          </a:p>
        </p:txBody>
      </p:sp>
      <p:sp>
        <p:nvSpPr>
          <p:cNvPr id="3" name="Text 1"/>
          <p:cNvSpPr/>
          <p:nvPr/>
        </p:nvSpPr>
        <p:spPr>
          <a:xfrm>
            <a:off x="4434840" y="109728"/>
            <a:ext cx="2103120" cy="182880"/>
          </a:xfrm>
          <a:prstGeom prst="rect">
            <a:avLst/>
          </a:prstGeom>
          <a:noFill/>
          <a:ln/>
        </p:spPr>
        <p:txBody>
          <a:bodyPr wrap="square" rtlCol="0" anchor="ctr"/>
          <a:lstStyle/>
          <a:p>
            <a:pPr marL="0" indent="0" algn="r">
              <a:buNone/>
            </a:pPr>
            <a:r>
              <a:rPr lang="en-US" sz="650" dirty="0">
                <a:solidFill>
                  <a:srgbClr val="88AACC"/>
                </a:solidFill>
                <a:latin typeface="Calibri" pitchFamily="34" charset="0"/>
                <a:ea typeface="Calibri" pitchFamily="34" charset="-122"/>
                <a:cs typeface="Calibri" pitchFamily="34" charset="-120"/>
              </a:rPr>
              <a:t>In collaboration with NESO</a:t>
            </a:r>
            <a:endParaRPr lang="en-US" sz="650" dirty="0"/>
          </a:p>
        </p:txBody>
      </p:sp>
      <p:sp>
        <p:nvSpPr>
          <p:cNvPr id="4" name="Shape 2"/>
          <p:cNvSpPr/>
          <p:nvPr/>
        </p:nvSpPr>
        <p:spPr>
          <a:xfrm>
            <a:off x="320040" y="347472"/>
            <a:ext cx="6217920" cy="0"/>
          </a:xfrm>
          <a:prstGeom prst="line">
            <a:avLst/>
          </a:prstGeom>
          <a:noFill/>
          <a:ln w="6350">
            <a:solidFill>
              <a:srgbClr val="1E3A5A"/>
            </a:solidFill>
            <a:prstDash val="solid"/>
          </a:ln>
        </p:spPr>
        <p:txBody>
          <a:bodyPr/>
          <a:lstStyle/>
          <a:p>
            <a:endParaRPr lang="en-GB"/>
          </a:p>
        </p:txBody>
      </p:sp>
      <p:sp>
        <p:nvSpPr>
          <p:cNvPr id="5" name="Text 3"/>
          <p:cNvSpPr/>
          <p:nvPr/>
        </p:nvSpPr>
        <p:spPr>
          <a:xfrm>
            <a:off x="320040" y="475488"/>
            <a:ext cx="6217920" cy="201168"/>
          </a:xfrm>
          <a:prstGeom prst="rect">
            <a:avLst/>
          </a:prstGeom>
          <a:noFill/>
          <a:ln/>
        </p:spPr>
        <p:txBody>
          <a:bodyPr wrap="square" rtlCol="0" anchor="ctr"/>
          <a:lstStyle/>
          <a:p>
            <a:pPr marL="0" indent="0">
              <a:buNone/>
            </a:pPr>
            <a:r>
              <a:rPr lang="en-US" sz="700" b="1" kern="0" spc="200" dirty="0">
                <a:solidFill>
                  <a:srgbClr val="00C49A"/>
                </a:solidFill>
                <a:latin typeface="Calibri" pitchFamily="34" charset="0"/>
                <a:ea typeface="Calibri" pitchFamily="34" charset="-122"/>
                <a:cs typeface="Calibri" pitchFamily="34" charset="-120"/>
              </a:rPr>
              <a:t>CARBON INTENSITY RESEARCH  ·  2026</a:t>
            </a:r>
            <a:endParaRPr lang="en-US" sz="700" dirty="0"/>
          </a:p>
        </p:txBody>
      </p:sp>
      <p:sp>
        <p:nvSpPr>
          <p:cNvPr id="6" name="Text 4"/>
          <p:cNvSpPr/>
          <p:nvPr/>
        </p:nvSpPr>
        <p:spPr>
          <a:xfrm>
            <a:off x="320040" y="804672"/>
            <a:ext cx="6217920" cy="1463040"/>
          </a:xfrm>
          <a:prstGeom prst="rect">
            <a:avLst/>
          </a:prstGeom>
          <a:noFill/>
          <a:ln/>
        </p:spPr>
        <p:txBody>
          <a:bodyPr wrap="square" rtlCol="0" anchor="ctr"/>
          <a:lstStyle/>
          <a:p>
            <a:pPr marL="0" indent="0">
              <a:lnSpc>
                <a:spcPct val="110000"/>
              </a:lnSpc>
              <a:buNone/>
            </a:pPr>
            <a:r>
              <a:rPr lang="en-US" sz="2800" b="1" dirty="0">
                <a:solidFill>
                  <a:srgbClr val="FFFFFF"/>
                </a:solidFill>
                <a:latin typeface="Georgia" pitchFamily="34" charset="0"/>
                <a:ea typeface="Georgia" pitchFamily="34" charset="-122"/>
                <a:cs typeface="Georgia" pitchFamily="34" charset="-120"/>
              </a:rPr>
              <a:t>Mapping the Carbon</a:t>
            </a:r>
            <a:endParaRPr lang="en-US" sz="2800" dirty="0"/>
          </a:p>
          <a:p>
            <a:pPr marL="0" indent="0">
              <a:lnSpc>
                <a:spcPct val="110000"/>
              </a:lnSpc>
              <a:buNone/>
            </a:pPr>
            <a:r>
              <a:rPr lang="en-US" sz="2800" b="1" dirty="0">
                <a:solidFill>
                  <a:srgbClr val="FFFFFF"/>
                </a:solidFill>
                <a:latin typeface="Georgia" pitchFamily="34" charset="0"/>
                <a:ea typeface="Georgia" pitchFamily="34" charset="-122"/>
                <a:cs typeface="Georgia" pitchFamily="34" charset="-120"/>
              </a:rPr>
              <a:t>Cost of </a:t>
            </a:r>
            <a:endParaRPr lang="en-US" sz="2800" dirty="0"/>
          </a:p>
          <a:p>
            <a:pPr marL="0" indent="0">
              <a:lnSpc>
                <a:spcPct val="110000"/>
              </a:lnSpc>
              <a:buNone/>
            </a:pPr>
            <a:r>
              <a:rPr lang="en-US" sz="2800" b="1" dirty="0">
                <a:solidFill>
                  <a:srgbClr val="00C49A"/>
                </a:solidFill>
                <a:latin typeface="Georgia" pitchFamily="34" charset="0"/>
                <a:ea typeface="Georgia" pitchFamily="34" charset="-122"/>
                <a:cs typeface="Georgia" pitchFamily="34" charset="-120"/>
              </a:rPr>
              <a:t>Every Electron</a:t>
            </a:r>
            <a:endParaRPr lang="en-US" sz="2800" dirty="0"/>
          </a:p>
          <a:p>
            <a:pPr marL="0" indent="0">
              <a:lnSpc>
                <a:spcPct val="110000"/>
              </a:lnSpc>
              <a:buNone/>
            </a:pPr>
            <a:r>
              <a:rPr lang="en-US" sz="2800" b="1" dirty="0">
                <a:solidFill>
                  <a:srgbClr val="FFFFFF"/>
                </a:solidFill>
                <a:latin typeface="Georgia" pitchFamily="34" charset="0"/>
                <a:ea typeface="Georgia" pitchFamily="34" charset="-122"/>
                <a:cs typeface="Georgia" pitchFamily="34" charset="-120"/>
              </a:rPr>
              <a:t>on Britain's Grid</a:t>
            </a:r>
            <a:endParaRPr lang="en-US" sz="2800" dirty="0"/>
          </a:p>
        </p:txBody>
      </p:sp>
      <p:sp>
        <p:nvSpPr>
          <p:cNvPr id="7" name="Text 5"/>
          <p:cNvSpPr/>
          <p:nvPr/>
        </p:nvSpPr>
        <p:spPr>
          <a:xfrm>
            <a:off x="317669" y="2634657"/>
            <a:ext cx="5029200" cy="822960"/>
          </a:xfrm>
          <a:prstGeom prst="rect">
            <a:avLst/>
          </a:prstGeom>
          <a:noFill/>
          <a:ln/>
        </p:spPr>
        <p:txBody>
          <a:bodyPr wrap="square" rtlCol="0" anchor="ctr"/>
          <a:lstStyle/>
          <a:p>
            <a:pPr marL="0" indent="0">
              <a:lnSpc>
                <a:spcPct val="140000"/>
              </a:lnSpc>
              <a:buNone/>
            </a:pPr>
            <a:r>
              <a:rPr lang="en-US" sz="900" dirty="0">
                <a:solidFill>
                  <a:srgbClr val="AABCCC"/>
                </a:solidFill>
                <a:latin typeface="Calibri" pitchFamily="34" charset="0"/>
                <a:ea typeface="Calibri" pitchFamily="34" charset="-122"/>
                <a:cs typeface="Calibri" pitchFamily="34" charset="-120"/>
              </a:rPr>
              <a:t>A nodal power flow model computing carbon intensity at every bus of the GB electricity network, hour by hour across an entire year, giving grid operators and investors unprecedented visibility into where emissions really come from.</a:t>
            </a:r>
            <a:endParaRPr lang="en-US" sz="900" dirty="0"/>
          </a:p>
        </p:txBody>
      </p:sp>
      <p:sp>
        <p:nvSpPr>
          <p:cNvPr id="46" name="Shape 44"/>
          <p:cNvSpPr/>
          <p:nvPr/>
        </p:nvSpPr>
        <p:spPr>
          <a:xfrm>
            <a:off x="3908146" y="2509114"/>
            <a:ext cx="321869" cy="321869"/>
          </a:xfrm>
          <a:prstGeom prst="ellipse">
            <a:avLst/>
          </a:prstGeom>
          <a:solidFill>
            <a:srgbClr val="2A4A6A">
              <a:alpha val="15000"/>
            </a:srgbClr>
          </a:solidFill>
          <a:ln w="6350">
            <a:solidFill>
              <a:srgbClr val="2A4A6A">
                <a:alpha val="40000"/>
              </a:srgbClr>
            </a:solidFill>
            <a:prstDash val="solid"/>
          </a:ln>
        </p:spPr>
        <p:txBody>
          <a:bodyPr/>
          <a:lstStyle/>
          <a:p>
            <a:endParaRPr lang="en-GB"/>
          </a:p>
        </p:txBody>
      </p:sp>
      <p:sp>
        <p:nvSpPr>
          <p:cNvPr id="54" name="Shape 52"/>
          <p:cNvSpPr/>
          <p:nvPr/>
        </p:nvSpPr>
        <p:spPr>
          <a:xfrm>
            <a:off x="320040" y="4315968"/>
            <a:ext cx="1463040" cy="804672"/>
          </a:xfrm>
          <a:prstGeom prst="rect">
            <a:avLst/>
          </a:prstGeom>
          <a:solidFill>
            <a:srgbClr val="0D2A45"/>
          </a:solidFill>
          <a:ln w="10160">
            <a:solidFill>
              <a:srgbClr val="1E5040"/>
            </a:solidFill>
            <a:prstDash val="solid"/>
          </a:ln>
        </p:spPr>
        <p:txBody>
          <a:bodyPr/>
          <a:lstStyle/>
          <a:p>
            <a:endParaRPr lang="en-GB" dirty="0"/>
          </a:p>
        </p:txBody>
      </p:sp>
      <p:sp>
        <p:nvSpPr>
          <p:cNvPr id="55" name="Text 53"/>
          <p:cNvSpPr/>
          <p:nvPr/>
        </p:nvSpPr>
        <p:spPr>
          <a:xfrm>
            <a:off x="320040" y="4343400"/>
            <a:ext cx="1463040" cy="384048"/>
          </a:xfrm>
          <a:prstGeom prst="rect">
            <a:avLst/>
          </a:prstGeom>
          <a:noFill/>
          <a:ln/>
        </p:spPr>
        <p:txBody>
          <a:bodyPr wrap="square" rtlCol="0" anchor="ctr"/>
          <a:lstStyle/>
          <a:p>
            <a:pPr marL="0" indent="0" algn="ctr">
              <a:buNone/>
            </a:pPr>
            <a:r>
              <a:rPr lang="en-US" sz="2200" b="1" dirty="0">
                <a:solidFill>
                  <a:srgbClr val="00C49A"/>
                </a:solidFill>
                <a:latin typeface="Georgia" pitchFamily="34" charset="0"/>
                <a:ea typeface="Georgia" pitchFamily="34" charset="-122"/>
                <a:cs typeface="Georgia" pitchFamily="34" charset="-120"/>
              </a:rPr>
              <a:t>2130</a:t>
            </a:r>
            <a:endParaRPr lang="en-US" sz="2200" dirty="0"/>
          </a:p>
        </p:txBody>
      </p:sp>
      <p:sp>
        <p:nvSpPr>
          <p:cNvPr id="56" name="Text 54"/>
          <p:cNvSpPr/>
          <p:nvPr/>
        </p:nvSpPr>
        <p:spPr>
          <a:xfrm>
            <a:off x="320040" y="4718304"/>
            <a:ext cx="1463040" cy="347472"/>
          </a:xfrm>
          <a:prstGeom prst="rect">
            <a:avLst/>
          </a:prstGeom>
          <a:noFill/>
          <a:ln/>
        </p:spPr>
        <p:txBody>
          <a:bodyPr wrap="square" rtlCol="0" anchor="ctr"/>
          <a:lstStyle/>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Network</a:t>
            </a:r>
            <a:endParaRPr lang="en-US" sz="650" dirty="0"/>
          </a:p>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buses modelled</a:t>
            </a:r>
            <a:endParaRPr lang="en-US" sz="650" dirty="0"/>
          </a:p>
        </p:txBody>
      </p:sp>
      <p:sp>
        <p:nvSpPr>
          <p:cNvPr id="57" name="Shape 55"/>
          <p:cNvSpPr/>
          <p:nvPr/>
        </p:nvSpPr>
        <p:spPr>
          <a:xfrm>
            <a:off x="1815253" y="4325112"/>
            <a:ext cx="1463040" cy="804672"/>
          </a:xfrm>
          <a:prstGeom prst="rect">
            <a:avLst/>
          </a:prstGeom>
          <a:solidFill>
            <a:srgbClr val="0D2A45"/>
          </a:solidFill>
          <a:ln w="10160">
            <a:solidFill>
              <a:srgbClr val="1E5040"/>
            </a:solidFill>
            <a:prstDash val="solid"/>
          </a:ln>
        </p:spPr>
        <p:txBody>
          <a:bodyPr/>
          <a:lstStyle/>
          <a:p>
            <a:endParaRPr lang="en-GB"/>
          </a:p>
        </p:txBody>
      </p:sp>
      <p:sp>
        <p:nvSpPr>
          <p:cNvPr id="58" name="Text 56"/>
          <p:cNvSpPr/>
          <p:nvPr/>
        </p:nvSpPr>
        <p:spPr>
          <a:xfrm>
            <a:off x="1847088" y="4343400"/>
            <a:ext cx="1463040" cy="384048"/>
          </a:xfrm>
          <a:prstGeom prst="rect">
            <a:avLst/>
          </a:prstGeom>
          <a:noFill/>
          <a:ln/>
        </p:spPr>
        <p:txBody>
          <a:bodyPr wrap="square" rtlCol="0" anchor="ctr"/>
          <a:lstStyle/>
          <a:p>
            <a:pPr marL="0" indent="0" algn="ctr">
              <a:buNone/>
            </a:pPr>
            <a:r>
              <a:rPr lang="en-US" sz="2200" b="1" dirty="0">
                <a:solidFill>
                  <a:srgbClr val="00C49A"/>
                </a:solidFill>
                <a:latin typeface="Georgia" pitchFamily="34" charset="0"/>
              </a:rPr>
              <a:t>8760</a:t>
            </a:r>
            <a:endParaRPr lang="en-US" sz="2200" dirty="0"/>
          </a:p>
        </p:txBody>
      </p:sp>
      <p:sp>
        <p:nvSpPr>
          <p:cNvPr id="59" name="Text 57"/>
          <p:cNvSpPr/>
          <p:nvPr/>
        </p:nvSpPr>
        <p:spPr>
          <a:xfrm>
            <a:off x="1847088" y="4718304"/>
            <a:ext cx="1463040" cy="347472"/>
          </a:xfrm>
          <a:prstGeom prst="rect">
            <a:avLst/>
          </a:prstGeom>
          <a:noFill/>
          <a:ln/>
        </p:spPr>
        <p:txBody>
          <a:bodyPr wrap="square" rtlCol="0" anchor="ctr"/>
          <a:lstStyle/>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Hourly</a:t>
            </a:r>
            <a:endParaRPr lang="en-US" sz="650" dirty="0"/>
          </a:p>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snapshots · 2023</a:t>
            </a:r>
            <a:endParaRPr lang="en-US" sz="650" dirty="0"/>
          </a:p>
        </p:txBody>
      </p:sp>
      <p:sp>
        <p:nvSpPr>
          <p:cNvPr id="60" name="Shape 58"/>
          <p:cNvSpPr/>
          <p:nvPr/>
        </p:nvSpPr>
        <p:spPr>
          <a:xfrm>
            <a:off x="3374136" y="4315968"/>
            <a:ext cx="1463040" cy="804672"/>
          </a:xfrm>
          <a:prstGeom prst="rect">
            <a:avLst/>
          </a:prstGeom>
          <a:solidFill>
            <a:srgbClr val="0D2A45"/>
          </a:solidFill>
          <a:ln w="10160">
            <a:solidFill>
              <a:srgbClr val="1E5040"/>
            </a:solidFill>
            <a:prstDash val="solid"/>
          </a:ln>
        </p:spPr>
        <p:txBody>
          <a:bodyPr/>
          <a:lstStyle/>
          <a:p>
            <a:endParaRPr lang="en-GB"/>
          </a:p>
        </p:txBody>
      </p:sp>
      <p:sp>
        <p:nvSpPr>
          <p:cNvPr id="61" name="Text 59"/>
          <p:cNvSpPr/>
          <p:nvPr/>
        </p:nvSpPr>
        <p:spPr>
          <a:xfrm>
            <a:off x="3374136" y="4343400"/>
            <a:ext cx="1463040" cy="384048"/>
          </a:xfrm>
          <a:prstGeom prst="rect">
            <a:avLst/>
          </a:prstGeom>
          <a:noFill/>
          <a:ln/>
        </p:spPr>
        <p:txBody>
          <a:bodyPr wrap="square" rtlCol="0" anchor="ctr"/>
          <a:lstStyle/>
          <a:p>
            <a:pPr marL="0" indent="0" algn="ctr">
              <a:buNone/>
            </a:pPr>
            <a:r>
              <a:rPr lang="en-US" sz="2200" b="1" dirty="0">
                <a:solidFill>
                  <a:srgbClr val="00C49A"/>
                </a:solidFill>
                <a:latin typeface="Georgia" pitchFamily="34" charset="0"/>
                <a:ea typeface="Georgia" pitchFamily="34" charset="-122"/>
                <a:cs typeface="Georgia" pitchFamily="34" charset="-120"/>
              </a:rPr>
              <a:t>&lt;1%</a:t>
            </a:r>
            <a:endParaRPr lang="en-US" sz="2200" dirty="0"/>
          </a:p>
        </p:txBody>
      </p:sp>
      <p:sp>
        <p:nvSpPr>
          <p:cNvPr id="62" name="Text 60"/>
          <p:cNvSpPr/>
          <p:nvPr/>
        </p:nvSpPr>
        <p:spPr>
          <a:xfrm>
            <a:off x="3374136" y="4718304"/>
            <a:ext cx="1463040" cy="347472"/>
          </a:xfrm>
          <a:prstGeom prst="rect">
            <a:avLst/>
          </a:prstGeom>
          <a:noFill/>
          <a:ln/>
        </p:spPr>
        <p:txBody>
          <a:bodyPr wrap="square" rtlCol="0" anchor="ctr"/>
          <a:lstStyle/>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Error vs GB</a:t>
            </a:r>
            <a:endParaRPr lang="en-US" sz="650" dirty="0"/>
          </a:p>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actual output</a:t>
            </a:r>
            <a:endParaRPr lang="en-US" sz="650" dirty="0"/>
          </a:p>
        </p:txBody>
      </p:sp>
      <p:sp>
        <p:nvSpPr>
          <p:cNvPr id="63" name="Shape 61"/>
          <p:cNvSpPr/>
          <p:nvPr/>
        </p:nvSpPr>
        <p:spPr>
          <a:xfrm>
            <a:off x="4933019" y="4315968"/>
            <a:ext cx="1463040" cy="804672"/>
          </a:xfrm>
          <a:prstGeom prst="rect">
            <a:avLst/>
          </a:prstGeom>
          <a:solidFill>
            <a:srgbClr val="0D2A45"/>
          </a:solidFill>
          <a:ln w="10160">
            <a:solidFill>
              <a:srgbClr val="1E5040"/>
            </a:solidFill>
            <a:prstDash val="solid"/>
          </a:ln>
        </p:spPr>
        <p:txBody>
          <a:bodyPr/>
          <a:lstStyle/>
          <a:p>
            <a:endParaRPr lang="en-GB"/>
          </a:p>
        </p:txBody>
      </p:sp>
      <p:sp>
        <p:nvSpPr>
          <p:cNvPr id="64" name="Text 62"/>
          <p:cNvSpPr/>
          <p:nvPr/>
        </p:nvSpPr>
        <p:spPr>
          <a:xfrm>
            <a:off x="4901184" y="4343400"/>
            <a:ext cx="1463040" cy="384048"/>
          </a:xfrm>
          <a:prstGeom prst="rect">
            <a:avLst/>
          </a:prstGeom>
          <a:noFill/>
          <a:ln/>
        </p:spPr>
        <p:txBody>
          <a:bodyPr wrap="square" rtlCol="0" anchor="ctr"/>
          <a:lstStyle/>
          <a:p>
            <a:pPr marL="0" indent="0" algn="ctr">
              <a:buNone/>
            </a:pPr>
            <a:r>
              <a:rPr lang="en-US" sz="2200" b="1" dirty="0">
                <a:solidFill>
                  <a:srgbClr val="00C49A"/>
                </a:solidFill>
                <a:latin typeface="Georgia" pitchFamily="34" charset="0"/>
              </a:rPr>
              <a:t>41.1</a:t>
            </a:r>
            <a:endParaRPr lang="en-US" sz="2200" dirty="0"/>
          </a:p>
        </p:txBody>
      </p:sp>
      <p:sp>
        <p:nvSpPr>
          <p:cNvPr id="65" name="Text 63"/>
          <p:cNvSpPr/>
          <p:nvPr/>
        </p:nvSpPr>
        <p:spPr>
          <a:xfrm>
            <a:off x="4901184" y="4718304"/>
            <a:ext cx="1463040" cy="347472"/>
          </a:xfrm>
          <a:prstGeom prst="rect">
            <a:avLst/>
          </a:prstGeom>
          <a:noFill/>
          <a:ln/>
        </p:spPr>
        <p:txBody>
          <a:bodyPr wrap="square" rtlCol="0" anchor="ctr"/>
          <a:lstStyle/>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Mean CI</a:t>
            </a:r>
            <a:endParaRPr lang="en-US" sz="650" dirty="0"/>
          </a:p>
          <a:p>
            <a:pPr marL="0" indent="0" algn="ctr">
              <a:lnSpc>
                <a:spcPct val="110000"/>
              </a:lnSpc>
              <a:buNone/>
            </a:pPr>
            <a:r>
              <a:rPr lang="en-US" sz="650" dirty="0">
                <a:solidFill>
                  <a:srgbClr val="88AACC"/>
                </a:solidFill>
                <a:latin typeface="Calibri" pitchFamily="34" charset="0"/>
                <a:ea typeface="Calibri" pitchFamily="34" charset="-122"/>
                <a:cs typeface="Calibri" pitchFamily="34" charset="-120"/>
              </a:rPr>
              <a:t>gCO₂/kWh</a:t>
            </a:r>
            <a:endParaRPr lang="en-US" sz="650" dirty="0"/>
          </a:p>
        </p:txBody>
      </p:sp>
      <p:sp>
        <p:nvSpPr>
          <p:cNvPr id="66" name="Shape 64"/>
          <p:cNvSpPr/>
          <p:nvPr/>
        </p:nvSpPr>
        <p:spPr>
          <a:xfrm>
            <a:off x="320040" y="5266944"/>
            <a:ext cx="2926080" cy="1572768"/>
          </a:xfrm>
          <a:prstGeom prst="rect">
            <a:avLst/>
          </a:prstGeom>
          <a:solidFill>
            <a:srgbClr val="091628"/>
          </a:solidFill>
          <a:ln w="6350">
            <a:solidFill>
              <a:srgbClr val="1A3050"/>
            </a:solidFill>
            <a:prstDash val="solid"/>
          </a:ln>
        </p:spPr>
        <p:txBody>
          <a:bodyPr/>
          <a:lstStyle/>
          <a:p>
            <a:endParaRPr lang="en-GB"/>
          </a:p>
        </p:txBody>
      </p:sp>
      <p:sp>
        <p:nvSpPr>
          <p:cNvPr id="67" name="Shape 65"/>
          <p:cNvSpPr/>
          <p:nvPr/>
        </p:nvSpPr>
        <p:spPr>
          <a:xfrm>
            <a:off x="3566160" y="5269653"/>
            <a:ext cx="2926080" cy="1572768"/>
          </a:xfrm>
          <a:prstGeom prst="rect">
            <a:avLst/>
          </a:prstGeom>
          <a:solidFill>
            <a:srgbClr val="091628"/>
          </a:solidFill>
          <a:ln w="6350">
            <a:solidFill>
              <a:srgbClr val="1A3050"/>
            </a:solidFill>
            <a:prstDash val="solid"/>
          </a:ln>
        </p:spPr>
        <p:txBody>
          <a:bodyPr/>
          <a:lstStyle/>
          <a:p>
            <a:endParaRPr lang="en-GB"/>
          </a:p>
        </p:txBody>
      </p:sp>
      <p:sp>
        <p:nvSpPr>
          <p:cNvPr id="68" name="Shape 66"/>
          <p:cNvSpPr/>
          <p:nvPr/>
        </p:nvSpPr>
        <p:spPr>
          <a:xfrm>
            <a:off x="3429000" y="5321808"/>
            <a:ext cx="0" cy="1463040"/>
          </a:xfrm>
          <a:prstGeom prst="line">
            <a:avLst/>
          </a:prstGeom>
          <a:noFill/>
          <a:ln w="6350">
            <a:solidFill>
              <a:srgbClr val="1E3A5A"/>
            </a:solidFill>
            <a:prstDash val="solid"/>
          </a:ln>
        </p:spPr>
        <p:txBody>
          <a:bodyPr/>
          <a:lstStyle/>
          <a:p>
            <a:endParaRPr lang="en-GB"/>
          </a:p>
        </p:txBody>
      </p:sp>
      <p:sp>
        <p:nvSpPr>
          <p:cNvPr id="69" name="Text 67"/>
          <p:cNvSpPr/>
          <p:nvPr/>
        </p:nvSpPr>
        <p:spPr>
          <a:xfrm>
            <a:off x="411480" y="5340096"/>
            <a:ext cx="2651760" cy="182880"/>
          </a:xfrm>
          <a:prstGeom prst="rect">
            <a:avLst/>
          </a:prstGeom>
          <a:noFill/>
          <a:ln/>
        </p:spPr>
        <p:txBody>
          <a:bodyPr wrap="square" rtlCol="0" anchor="ctr"/>
          <a:lstStyle/>
          <a:p>
            <a:pPr marL="0" indent="0">
              <a:buNone/>
            </a:pPr>
            <a:r>
              <a:rPr lang="en-US" sz="650" b="1" kern="0" spc="200" dirty="0">
                <a:solidFill>
                  <a:srgbClr val="00C49A"/>
                </a:solidFill>
                <a:latin typeface="Calibri" pitchFamily="34" charset="0"/>
                <a:ea typeface="Calibri" pitchFamily="34" charset="-122"/>
                <a:cs typeface="Calibri" pitchFamily="34" charset="-120"/>
              </a:rPr>
              <a:t>THE PROBLEM</a:t>
            </a:r>
            <a:endParaRPr lang="en-US" sz="650" dirty="0"/>
          </a:p>
        </p:txBody>
      </p:sp>
      <p:sp>
        <p:nvSpPr>
          <p:cNvPr id="70" name="Text 68"/>
          <p:cNvSpPr/>
          <p:nvPr/>
        </p:nvSpPr>
        <p:spPr>
          <a:xfrm>
            <a:off x="411480" y="5577840"/>
            <a:ext cx="2651760" cy="1143000"/>
          </a:xfrm>
          <a:prstGeom prst="rect">
            <a:avLst/>
          </a:prstGeom>
          <a:noFill/>
          <a:ln/>
        </p:spPr>
        <p:txBody>
          <a:bodyPr wrap="square" rtlCol="0" anchor="ctr"/>
          <a:lstStyle/>
          <a:p>
            <a:pPr marL="0" indent="0">
              <a:lnSpc>
                <a:spcPct val="135000"/>
              </a:lnSpc>
              <a:buNone/>
            </a:pPr>
            <a:r>
              <a:rPr lang="en-US" sz="800" dirty="0">
                <a:solidFill>
                  <a:srgbClr val="AABCCC"/>
                </a:solidFill>
                <a:latin typeface="Calibri" pitchFamily="34" charset="0"/>
                <a:ea typeface="Calibri" pitchFamily="34" charset="-122"/>
                <a:cs typeface="Calibri" pitchFamily="34" charset="-120"/>
              </a:rPr>
              <a:t>The UK grid must decarbonise at pace. But national average carbon intensity figures hide a critical truth: not all electrons are equal. Regional data tells you little about where investment in clean generation will have the greatest impact.</a:t>
            </a:r>
            <a:endParaRPr lang="en-US" sz="800" dirty="0"/>
          </a:p>
        </p:txBody>
      </p:sp>
      <p:sp>
        <p:nvSpPr>
          <p:cNvPr id="71" name="Text 69"/>
          <p:cNvSpPr/>
          <p:nvPr/>
        </p:nvSpPr>
        <p:spPr>
          <a:xfrm>
            <a:off x="3703320" y="5340096"/>
            <a:ext cx="2651760" cy="182880"/>
          </a:xfrm>
          <a:prstGeom prst="rect">
            <a:avLst/>
          </a:prstGeom>
          <a:noFill/>
          <a:ln/>
        </p:spPr>
        <p:txBody>
          <a:bodyPr wrap="square" rtlCol="0" anchor="ctr"/>
          <a:lstStyle/>
          <a:p>
            <a:pPr marL="0" indent="0">
              <a:buNone/>
            </a:pPr>
            <a:r>
              <a:rPr lang="en-US" sz="650" b="1" kern="0" spc="200" dirty="0">
                <a:solidFill>
                  <a:srgbClr val="00C49A"/>
                </a:solidFill>
                <a:latin typeface="Calibri" pitchFamily="34" charset="0"/>
                <a:ea typeface="Calibri" pitchFamily="34" charset="-122"/>
                <a:cs typeface="Calibri" pitchFamily="34" charset="-120"/>
              </a:rPr>
              <a:t>OUR SOLUTION</a:t>
            </a:r>
            <a:endParaRPr lang="en-US" sz="650" dirty="0"/>
          </a:p>
        </p:txBody>
      </p:sp>
      <p:sp>
        <p:nvSpPr>
          <p:cNvPr id="72" name="Text 70"/>
          <p:cNvSpPr/>
          <p:nvPr/>
        </p:nvSpPr>
        <p:spPr>
          <a:xfrm>
            <a:off x="3703320" y="5577840"/>
            <a:ext cx="2651760" cy="1143000"/>
          </a:xfrm>
          <a:prstGeom prst="rect">
            <a:avLst/>
          </a:prstGeom>
          <a:noFill/>
          <a:ln/>
        </p:spPr>
        <p:txBody>
          <a:bodyPr wrap="square" rtlCol="0" anchor="ctr"/>
          <a:lstStyle/>
          <a:p>
            <a:pPr marL="0" indent="0">
              <a:lnSpc>
                <a:spcPct val="135000"/>
              </a:lnSpc>
              <a:buNone/>
            </a:pPr>
            <a:r>
              <a:rPr lang="en-US" sz="800" dirty="0">
                <a:solidFill>
                  <a:srgbClr val="AABCCC"/>
                </a:solidFill>
                <a:latin typeface="Calibri" pitchFamily="34" charset="0"/>
                <a:ea typeface="Calibri" pitchFamily="34" charset="-122"/>
                <a:cs typeface="Calibri" pitchFamily="34" charset="-120"/>
              </a:rPr>
              <a:t>We built a full-year, nodal-resolution carbon intensity model using PyPSA-GB as the dispatch engine and Bialek average proportional sharing to attribute carbon to every node — validated against NESO's official Carbon Intensity API.</a:t>
            </a:r>
            <a:endParaRPr lang="en-US" sz="800" dirty="0"/>
          </a:p>
        </p:txBody>
      </p:sp>
      <p:sp>
        <p:nvSpPr>
          <p:cNvPr id="83" name="Shape 81"/>
          <p:cNvSpPr/>
          <p:nvPr/>
        </p:nvSpPr>
        <p:spPr>
          <a:xfrm>
            <a:off x="0" y="9345803"/>
            <a:ext cx="6858000" cy="347472"/>
          </a:xfrm>
          <a:prstGeom prst="rect">
            <a:avLst/>
          </a:prstGeom>
          <a:solidFill>
            <a:srgbClr val="050F1E"/>
          </a:solidFill>
          <a:ln w="12700">
            <a:solidFill>
              <a:srgbClr val="050F1E"/>
            </a:solidFill>
            <a:prstDash val="solid"/>
          </a:ln>
        </p:spPr>
        <p:txBody>
          <a:bodyPr/>
          <a:lstStyle/>
          <a:p>
            <a:endParaRPr lang="en-GB"/>
          </a:p>
        </p:txBody>
      </p:sp>
      <p:sp>
        <p:nvSpPr>
          <p:cNvPr id="84" name="Text 82"/>
          <p:cNvSpPr/>
          <p:nvPr/>
        </p:nvSpPr>
        <p:spPr>
          <a:xfrm>
            <a:off x="320040" y="9382379"/>
            <a:ext cx="3474720" cy="237744"/>
          </a:xfrm>
          <a:prstGeom prst="rect">
            <a:avLst/>
          </a:prstGeom>
          <a:noFill/>
          <a:ln/>
        </p:spPr>
        <p:txBody>
          <a:bodyPr wrap="square" rtlCol="0" anchor="ctr"/>
          <a:lstStyle/>
          <a:p>
            <a:pPr marL="0" indent="0">
              <a:buNone/>
            </a:pPr>
            <a:r>
              <a:rPr lang="en-US" sz="700" dirty="0">
                <a:solidFill>
                  <a:srgbClr val="3A6080"/>
                </a:solidFill>
                <a:latin typeface="Calibri" pitchFamily="34" charset="0"/>
                <a:ea typeface="Calibri" pitchFamily="34" charset="-122"/>
                <a:cs typeface="Calibri" pitchFamily="34" charset="-120"/>
              </a:rPr>
              <a:t>Mert · Annie · Ava · Matthew · Momo · Adnan</a:t>
            </a:r>
            <a:endParaRPr lang="en-US" sz="700" dirty="0"/>
          </a:p>
        </p:txBody>
      </p:sp>
      <p:sp>
        <p:nvSpPr>
          <p:cNvPr id="85" name="Text 83"/>
          <p:cNvSpPr/>
          <p:nvPr/>
        </p:nvSpPr>
        <p:spPr>
          <a:xfrm>
            <a:off x="3520440" y="9382379"/>
            <a:ext cx="3017520" cy="237744"/>
          </a:xfrm>
          <a:prstGeom prst="rect">
            <a:avLst/>
          </a:prstGeom>
          <a:noFill/>
          <a:ln/>
        </p:spPr>
        <p:txBody>
          <a:bodyPr wrap="square" rtlCol="0" anchor="ctr"/>
          <a:lstStyle/>
          <a:p>
            <a:pPr marL="0" indent="0" algn="r">
              <a:buNone/>
            </a:pPr>
            <a:r>
              <a:rPr lang="en-US" sz="700" dirty="0">
                <a:solidFill>
                  <a:srgbClr val="00C49A"/>
                </a:solidFill>
                <a:latin typeface="Calibri" pitchFamily="34" charset="0"/>
                <a:ea typeface="Calibri" pitchFamily="34" charset="-122"/>
                <a:cs typeface="Calibri" pitchFamily="34" charset="-120"/>
              </a:rPr>
              <a:t>github.com/avagm/neso-carbon-intensity</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0" y="0"/>
            <a:ext cx="6858000" cy="384048"/>
          </a:xfrm>
          <a:prstGeom prst="rect">
            <a:avLst/>
          </a:prstGeom>
          <a:solidFill>
            <a:srgbClr val="0B1D3A"/>
          </a:solidFill>
          <a:ln w="12700">
            <a:solidFill>
              <a:srgbClr val="0B1D3A"/>
            </a:solidFill>
            <a:prstDash val="solid"/>
          </a:ln>
        </p:spPr>
        <p:txBody>
          <a:bodyPr/>
          <a:lstStyle/>
          <a:p>
            <a:endParaRPr lang="en-GB"/>
          </a:p>
        </p:txBody>
      </p:sp>
      <p:sp>
        <p:nvSpPr>
          <p:cNvPr id="3" name="Text 1"/>
          <p:cNvSpPr/>
          <p:nvPr/>
        </p:nvSpPr>
        <p:spPr>
          <a:xfrm>
            <a:off x="320040" y="64008"/>
            <a:ext cx="2286000" cy="256032"/>
          </a:xfrm>
          <a:prstGeom prst="rect">
            <a:avLst/>
          </a:prstGeom>
          <a:noFill/>
          <a:ln/>
        </p:spPr>
        <p:txBody>
          <a:bodyPr wrap="square" rtlCol="0" anchor="ctr"/>
          <a:lstStyle/>
          <a:p>
            <a:pPr marL="0" indent="0">
              <a:buNone/>
            </a:pPr>
            <a:r>
              <a:rPr lang="en-US" sz="700" b="1" kern="0" spc="200" dirty="0">
                <a:solidFill>
                  <a:srgbClr val="00C49A"/>
                </a:solidFill>
                <a:latin typeface="Calibri" pitchFamily="34" charset="0"/>
                <a:ea typeface="Calibri" pitchFamily="34" charset="-122"/>
                <a:cs typeface="Calibri" pitchFamily="34" charset="-120"/>
              </a:rPr>
              <a:t>HOW IT WORKS</a:t>
            </a:r>
            <a:endParaRPr lang="en-US" sz="700" dirty="0"/>
          </a:p>
        </p:txBody>
      </p:sp>
      <p:sp>
        <p:nvSpPr>
          <p:cNvPr id="4" name="Text 2"/>
          <p:cNvSpPr/>
          <p:nvPr/>
        </p:nvSpPr>
        <p:spPr>
          <a:xfrm>
            <a:off x="2560320" y="64008"/>
            <a:ext cx="3977640" cy="256032"/>
          </a:xfrm>
          <a:prstGeom prst="rect">
            <a:avLst/>
          </a:prstGeom>
          <a:noFill/>
          <a:ln/>
        </p:spPr>
        <p:txBody>
          <a:bodyPr wrap="square" rtlCol="0" anchor="ctr"/>
          <a:lstStyle/>
          <a:p>
            <a:pPr marL="0" indent="0" algn="r">
              <a:buNone/>
            </a:pPr>
            <a:r>
              <a:rPr lang="en-US" sz="1000" b="1" dirty="0">
                <a:solidFill>
                  <a:srgbClr val="FFFFFF"/>
                </a:solidFill>
                <a:latin typeface="Georgia" pitchFamily="34" charset="0"/>
                <a:ea typeface="Georgia" pitchFamily="34" charset="-122"/>
                <a:cs typeface="Georgia" pitchFamily="34" charset="-120"/>
              </a:rPr>
              <a:t>Nodal Carbon Intensity  ·  GB Grid  ·  2023</a:t>
            </a:r>
            <a:endParaRPr lang="en-US" sz="1000" dirty="0"/>
          </a:p>
        </p:txBody>
      </p:sp>
      <p:sp>
        <p:nvSpPr>
          <p:cNvPr id="5" name="Text 3"/>
          <p:cNvSpPr/>
          <p:nvPr/>
        </p:nvSpPr>
        <p:spPr>
          <a:xfrm>
            <a:off x="320040" y="512064"/>
            <a:ext cx="2743200" cy="182880"/>
          </a:xfrm>
          <a:prstGeom prst="rect">
            <a:avLst/>
          </a:prstGeom>
          <a:noFill/>
          <a:ln/>
        </p:spPr>
        <p:txBody>
          <a:bodyPr wrap="square" rtlCol="0" anchor="ctr"/>
          <a:lstStyle/>
          <a:p>
            <a:pPr marL="0" indent="0">
              <a:buNone/>
            </a:pPr>
            <a:r>
              <a:rPr lang="en-US" sz="650" b="1" kern="0" spc="200" dirty="0">
                <a:solidFill>
                  <a:srgbClr val="00C49A"/>
                </a:solidFill>
                <a:latin typeface="Calibri" pitchFamily="34" charset="0"/>
                <a:ea typeface="Calibri" pitchFamily="34" charset="-122"/>
                <a:cs typeface="Calibri" pitchFamily="34" charset="-120"/>
              </a:rPr>
              <a:t>THE PIPELINE</a:t>
            </a:r>
            <a:endParaRPr lang="en-US" sz="650" dirty="0"/>
          </a:p>
        </p:txBody>
      </p:sp>
      <p:sp>
        <p:nvSpPr>
          <p:cNvPr id="6" name="Shape 4"/>
          <p:cNvSpPr/>
          <p:nvPr/>
        </p:nvSpPr>
        <p:spPr>
          <a:xfrm>
            <a:off x="311574" y="758951"/>
            <a:ext cx="2029968" cy="1581911"/>
          </a:xfrm>
          <a:prstGeom prst="rect">
            <a:avLst/>
          </a:prstGeom>
          <a:solidFill>
            <a:srgbClr val="FFFFFF"/>
          </a:solidFill>
          <a:ln w="7620">
            <a:solidFill>
              <a:srgbClr val="E0E6EE"/>
            </a:solidFill>
            <a:prstDash val="solid"/>
          </a:ln>
        </p:spPr>
        <p:txBody>
          <a:bodyPr/>
          <a:lstStyle/>
          <a:p>
            <a:endParaRPr lang="en-GB"/>
          </a:p>
        </p:txBody>
      </p:sp>
      <p:sp>
        <p:nvSpPr>
          <p:cNvPr id="7" name="Text 5"/>
          <p:cNvSpPr/>
          <p:nvPr/>
        </p:nvSpPr>
        <p:spPr>
          <a:xfrm>
            <a:off x="429768" y="804672"/>
            <a:ext cx="548640" cy="329184"/>
          </a:xfrm>
          <a:prstGeom prst="rect">
            <a:avLst/>
          </a:prstGeom>
          <a:noFill/>
          <a:ln/>
        </p:spPr>
        <p:txBody>
          <a:bodyPr wrap="square" rtlCol="0" anchor="ctr"/>
          <a:lstStyle/>
          <a:p>
            <a:pPr marL="0" indent="0">
              <a:buNone/>
            </a:pPr>
            <a:r>
              <a:rPr lang="en-US" sz="1200" b="1" dirty="0">
                <a:solidFill>
                  <a:srgbClr val="D8E4EE"/>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411480" y="1046988"/>
            <a:ext cx="1810512" cy="228600"/>
          </a:xfrm>
          <a:prstGeom prst="rect">
            <a:avLst/>
          </a:prstGeom>
          <a:noFill/>
          <a:ln/>
        </p:spPr>
        <p:txBody>
          <a:bodyPr wrap="square" rtlCol="0" anchor="ctr"/>
          <a:lstStyle/>
          <a:p>
            <a:pPr marL="0" indent="0">
              <a:buNone/>
            </a:pPr>
            <a:r>
              <a:rPr lang="en-US" sz="900" b="1" dirty="0">
                <a:solidFill>
                  <a:srgbClr val="0B1D3A"/>
                </a:solidFill>
                <a:latin typeface="Calibri" pitchFamily="34" charset="0"/>
                <a:ea typeface="Calibri" pitchFamily="34" charset="-122"/>
                <a:cs typeface="Calibri" pitchFamily="34" charset="-120"/>
              </a:rPr>
              <a:t>Dispatch Simulation</a:t>
            </a:r>
            <a:endParaRPr lang="en-US" sz="900" dirty="0"/>
          </a:p>
        </p:txBody>
      </p:sp>
      <p:sp>
        <p:nvSpPr>
          <p:cNvPr id="9" name="Text 7"/>
          <p:cNvSpPr/>
          <p:nvPr/>
        </p:nvSpPr>
        <p:spPr>
          <a:xfrm>
            <a:off x="468714" y="1425107"/>
            <a:ext cx="1810512" cy="731520"/>
          </a:xfrm>
          <a:prstGeom prst="rect">
            <a:avLst/>
          </a:prstGeom>
          <a:noFill/>
          <a:ln/>
        </p:spPr>
        <p:txBody>
          <a:bodyPr wrap="square" rtlCol="0" anchor="ctr"/>
          <a:lstStyle/>
          <a:p>
            <a:pPr marL="0" indent="0">
              <a:lnSpc>
                <a:spcPct val="130000"/>
              </a:lnSpc>
              <a:buNone/>
            </a:pPr>
            <a:r>
              <a:rPr lang="en-US" sz="750" dirty="0">
                <a:solidFill>
                  <a:srgbClr val="5A6A7E"/>
                </a:solidFill>
                <a:latin typeface="Calibri" pitchFamily="34" charset="0"/>
                <a:ea typeface="Calibri" pitchFamily="34" charset="-122"/>
                <a:cs typeface="Calibri" pitchFamily="34" charset="-120"/>
              </a:rPr>
              <a:t>PyPSA-GB optimises generation dispatch across the full GB network using historical 2023 inputs - weather, demand, and generator capacity. Transmission losses (8%) and NESO's biomass emission factor (120 gCO₂/kWh) are explicitly modelled.</a:t>
            </a:r>
            <a:endParaRPr lang="en-US" sz="750" dirty="0"/>
          </a:p>
        </p:txBody>
      </p:sp>
      <p:sp>
        <p:nvSpPr>
          <p:cNvPr id="10" name="Shape 8"/>
          <p:cNvSpPr/>
          <p:nvPr/>
        </p:nvSpPr>
        <p:spPr>
          <a:xfrm>
            <a:off x="2395727" y="749808"/>
            <a:ext cx="2020825" cy="1591054"/>
          </a:xfrm>
          <a:prstGeom prst="rect">
            <a:avLst/>
          </a:prstGeom>
          <a:solidFill>
            <a:srgbClr val="FFFFFF"/>
          </a:solidFill>
          <a:ln w="7620">
            <a:solidFill>
              <a:srgbClr val="E0E6EE"/>
            </a:solidFill>
            <a:prstDash val="solid"/>
          </a:ln>
        </p:spPr>
        <p:txBody>
          <a:bodyPr/>
          <a:lstStyle/>
          <a:p>
            <a:endParaRPr lang="en-GB"/>
          </a:p>
        </p:txBody>
      </p:sp>
      <p:sp>
        <p:nvSpPr>
          <p:cNvPr id="11" name="Text 9"/>
          <p:cNvSpPr/>
          <p:nvPr/>
        </p:nvSpPr>
        <p:spPr>
          <a:xfrm>
            <a:off x="2496312" y="804672"/>
            <a:ext cx="621792" cy="329184"/>
          </a:xfrm>
          <a:prstGeom prst="rect">
            <a:avLst/>
          </a:prstGeom>
          <a:noFill/>
          <a:ln/>
        </p:spPr>
        <p:txBody>
          <a:bodyPr wrap="square" rtlCol="0" anchor="ctr"/>
          <a:lstStyle/>
          <a:p>
            <a:pPr marL="0" indent="0">
              <a:buNone/>
            </a:pPr>
            <a:r>
              <a:rPr lang="en-US" sz="1200" b="1" dirty="0">
                <a:solidFill>
                  <a:srgbClr val="D8E4EE"/>
                </a:solidFill>
                <a:latin typeface="Georgia" pitchFamily="34" charset="0"/>
                <a:ea typeface="Georgia" pitchFamily="34" charset="-122"/>
                <a:cs typeface="Georgia" pitchFamily="34" charset="-120"/>
              </a:rPr>
              <a:t>02</a:t>
            </a:r>
            <a:endParaRPr lang="en-US" sz="1200" dirty="0"/>
          </a:p>
        </p:txBody>
      </p:sp>
      <p:sp>
        <p:nvSpPr>
          <p:cNvPr id="12" name="Text 10"/>
          <p:cNvSpPr/>
          <p:nvPr/>
        </p:nvSpPr>
        <p:spPr>
          <a:xfrm>
            <a:off x="2454994" y="1046988"/>
            <a:ext cx="1810512" cy="228600"/>
          </a:xfrm>
          <a:prstGeom prst="rect">
            <a:avLst/>
          </a:prstGeom>
          <a:noFill/>
          <a:ln/>
        </p:spPr>
        <p:txBody>
          <a:bodyPr wrap="square" rtlCol="0" anchor="ctr"/>
          <a:lstStyle/>
          <a:p>
            <a:pPr marL="0" indent="0">
              <a:buNone/>
            </a:pPr>
            <a:r>
              <a:rPr lang="en-US" sz="900" b="1" dirty="0">
                <a:solidFill>
                  <a:srgbClr val="0B1D3A"/>
                </a:solidFill>
                <a:latin typeface="Calibri" pitchFamily="34" charset="0"/>
                <a:ea typeface="Calibri" pitchFamily="34" charset="-122"/>
                <a:cs typeface="Calibri" pitchFamily="34" charset="-120"/>
              </a:rPr>
              <a:t>Bialek Tracing</a:t>
            </a:r>
            <a:endParaRPr lang="en-US" sz="900" dirty="0"/>
          </a:p>
        </p:txBody>
      </p:sp>
      <p:sp>
        <p:nvSpPr>
          <p:cNvPr id="13" name="Text 11"/>
          <p:cNvSpPr/>
          <p:nvPr/>
        </p:nvSpPr>
        <p:spPr>
          <a:xfrm>
            <a:off x="2468880" y="1355006"/>
            <a:ext cx="1810512" cy="731520"/>
          </a:xfrm>
          <a:prstGeom prst="rect">
            <a:avLst/>
          </a:prstGeom>
          <a:noFill/>
          <a:ln/>
        </p:spPr>
        <p:txBody>
          <a:bodyPr wrap="square" rtlCol="0" anchor="ctr"/>
          <a:lstStyle/>
          <a:p>
            <a:pPr marL="0" indent="0">
              <a:lnSpc>
                <a:spcPct val="130000"/>
              </a:lnSpc>
              <a:buNone/>
            </a:pPr>
            <a:r>
              <a:rPr lang="en-US" sz="750" dirty="0">
                <a:solidFill>
                  <a:srgbClr val="5A6A7E"/>
                </a:solidFill>
                <a:latin typeface="Calibri" pitchFamily="34" charset="0"/>
                <a:ea typeface="Calibri" pitchFamily="34" charset="-122"/>
                <a:cs typeface="Calibri" pitchFamily="34" charset="-120"/>
              </a:rPr>
              <a:t>Average proportional sharing traces power flows from each generator to each bus, assigning a precise carbon intensity to every node at every timestep — not just a system average. Runs across all 2,130 buses.</a:t>
            </a:r>
            <a:endParaRPr lang="en-US" sz="750" dirty="0"/>
          </a:p>
        </p:txBody>
      </p:sp>
      <p:sp>
        <p:nvSpPr>
          <p:cNvPr id="14" name="Shape 12"/>
          <p:cNvSpPr/>
          <p:nvPr/>
        </p:nvSpPr>
        <p:spPr>
          <a:xfrm>
            <a:off x="4434840" y="749808"/>
            <a:ext cx="2066544" cy="1591054"/>
          </a:xfrm>
          <a:prstGeom prst="rect">
            <a:avLst/>
          </a:prstGeom>
          <a:solidFill>
            <a:srgbClr val="FFFFFF"/>
          </a:solidFill>
          <a:ln w="7620">
            <a:solidFill>
              <a:srgbClr val="E0E6EE"/>
            </a:solidFill>
            <a:prstDash val="solid"/>
          </a:ln>
        </p:spPr>
        <p:txBody>
          <a:bodyPr/>
          <a:lstStyle/>
          <a:p>
            <a:endParaRPr lang="en-GB"/>
          </a:p>
        </p:txBody>
      </p:sp>
      <p:sp>
        <p:nvSpPr>
          <p:cNvPr id="15" name="Text 13"/>
          <p:cNvSpPr/>
          <p:nvPr/>
        </p:nvSpPr>
        <p:spPr>
          <a:xfrm>
            <a:off x="4581143" y="804672"/>
            <a:ext cx="735923" cy="329184"/>
          </a:xfrm>
          <a:prstGeom prst="rect">
            <a:avLst/>
          </a:prstGeom>
          <a:noFill/>
          <a:ln/>
        </p:spPr>
        <p:txBody>
          <a:bodyPr wrap="square" rtlCol="0" anchor="ctr"/>
          <a:lstStyle/>
          <a:p>
            <a:pPr marL="0" indent="0">
              <a:buNone/>
            </a:pPr>
            <a:r>
              <a:rPr lang="en-US" sz="1200" b="1" dirty="0">
                <a:solidFill>
                  <a:srgbClr val="D8E4EE"/>
                </a:solidFill>
                <a:latin typeface="Georgia" pitchFamily="34" charset="0"/>
                <a:ea typeface="Georgia" pitchFamily="34" charset="-122"/>
                <a:cs typeface="Georgia" pitchFamily="34" charset="-120"/>
              </a:rPr>
              <a:t>03</a:t>
            </a:r>
            <a:endParaRPr lang="en-US" sz="1200" dirty="0"/>
          </a:p>
        </p:txBody>
      </p:sp>
      <p:sp>
        <p:nvSpPr>
          <p:cNvPr id="16" name="Text 14"/>
          <p:cNvSpPr/>
          <p:nvPr/>
        </p:nvSpPr>
        <p:spPr>
          <a:xfrm>
            <a:off x="4581144" y="1029378"/>
            <a:ext cx="1810512" cy="228600"/>
          </a:xfrm>
          <a:prstGeom prst="rect">
            <a:avLst/>
          </a:prstGeom>
          <a:noFill/>
          <a:ln/>
        </p:spPr>
        <p:txBody>
          <a:bodyPr wrap="square" rtlCol="0" anchor="ctr"/>
          <a:lstStyle/>
          <a:p>
            <a:pPr marL="0" indent="0">
              <a:buNone/>
            </a:pPr>
            <a:r>
              <a:rPr lang="en-US" sz="900" b="1" dirty="0">
                <a:solidFill>
                  <a:srgbClr val="0B1D3A"/>
                </a:solidFill>
                <a:latin typeface="Calibri" pitchFamily="34" charset="0"/>
                <a:ea typeface="Calibri" pitchFamily="34" charset="-122"/>
                <a:cs typeface="Calibri" pitchFamily="34" charset="-120"/>
              </a:rPr>
              <a:t>Validation</a:t>
            </a:r>
            <a:endParaRPr lang="en-US" sz="900" dirty="0"/>
          </a:p>
        </p:txBody>
      </p:sp>
      <p:sp>
        <p:nvSpPr>
          <p:cNvPr id="17" name="Text 15"/>
          <p:cNvSpPr/>
          <p:nvPr/>
        </p:nvSpPr>
        <p:spPr>
          <a:xfrm>
            <a:off x="4562856" y="1354837"/>
            <a:ext cx="1810512" cy="731520"/>
          </a:xfrm>
          <a:prstGeom prst="rect">
            <a:avLst/>
          </a:prstGeom>
          <a:noFill/>
          <a:ln/>
        </p:spPr>
        <p:txBody>
          <a:bodyPr wrap="square" rtlCol="0" anchor="ctr"/>
          <a:lstStyle/>
          <a:p>
            <a:pPr marL="0" indent="0">
              <a:lnSpc>
                <a:spcPct val="130000"/>
              </a:lnSpc>
              <a:buNone/>
            </a:pPr>
            <a:r>
              <a:rPr lang="en-US" sz="750" dirty="0">
                <a:solidFill>
                  <a:srgbClr val="5A6A7E"/>
                </a:solidFill>
                <a:latin typeface="Calibri" pitchFamily="34" charset="0"/>
                <a:ea typeface="Calibri" pitchFamily="34" charset="-122"/>
                <a:cs typeface="Calibri" pitchFamily="34" charset="-120"/>
              </a:rPr>
              <a:t>Nodal results are aggregated to NESO's 17 regional zones and compared against the official Carbon Intensity API. Annual generation output (272–273 TWh) sits within 1% of GB's reported 2023 consumption.</a:t>
            </a:r>
            <a:endParaRPr lang="en-US" sz="750" dirty="0"/>
          </a:p>
        </p:txBody>
      </p:sp>
      <p:sp>
        <p:nvSpPr>
          <p:cNvPr id="18" name="Text 16"/>
          <p:cNvSpPr/>
          <p:nvPr/>
        </p:nvSpPr>
        <p:spPr>
          <a:xfrm>
            <a:off x="320040" y="2304288"/>
            <a:ext cx="2743200" cy="182880"/>
          </a:xfrm>
          <a:prstGeom prst="rect">
            <a:avLst/>
          </a:prstGeom>
          <a:noFill/>
          <a:ln/>
        </p:spPr>
        <p:txBody>
          <a:bodyPr wrap="square" rtlCol="0" anchor="ctr"/>
          <a:lstStyle/>
          <a:p>
            <a:pPr marL="0" indent="0">
              <a:buNone/>
            </a:pPr>
            <a:r>
              <a:rPr lang="en-US" sz="650" b="1" kern="0" spc="200" dirty="0">
                <a:solidFill>
                  <a:srgbClr val="00C49A"/>
                </a:solidFill>
                <a:latin typeface="Calibri" pitchFamily="34" charset="0"/>
                <a:ea typeface="Calibri" pitchFamily="34" charset="-122"/>
                <a:cs typeface="Calibri" pitchFamily="34" charset="-120"/>
              </a:rPr>
              <a:t>KEY RESULTS</a:t>
            </a:r>
            <a:endParaRPr lang="en-US" sz="650" dirty="0"/>
          </a:p>
        </p:txBody>
      </p:sp>
      <p:sp>
        <p:nvSpPr>
          <p:cNvPr id="19" name="Shape 17"/>
          <p:cNvSpPr/>
          <p:nvPr/>
        </p:nvSpPr>
        <p:spPr>
          <a:xfrm>
            <a:off x="320040" y="2517309"/>
            <a:ext cx="3081528" cy="1005840"/>
          </a:xfrm>
          <a:prstGeom prst="rect">
            <a:avLst/>
          </a:prstGeom>
          <a:solidFill>
            <a:srgbClr val="FFFFFF"/>
          </a:solidFill>
          <a:ln w="7620">
            <a:solidFill>
              <a:srgbClr val="E0E6EE"/>
            </a:solidFill>
            <a:prstDash val="solid"/>
          </a:ln>
        </p:spPr>
        <p:txBody>
          <a:bodyPr/>
          <a:lstStyle/>
          <a:p>
            <a:endParaRPr lang="en-GB"/>
          </a:p>
        </p:txBody>
      </p:sp>
      <p:sp>
        <p:nvSpPr>
          <p:cNvPr id="20" name="Text 18"/>
          <p:cNvSpPr/>
          <p:nvPr/>
        </p:nvSpPr>
        <p:spPr>
          <a:xfrm>
            <a:off x="448056" y="2633472"/>
            <a:ext cx="2898648" cy="329184"/>
          </a:xfrm>
          <a:prstGeom prst="rect">
            <a:avLst/>
          </a:prstGeom>
          <a:noFill/>
          <a:ln/>
        </p:spPr>
        <p:txBody>
          <a:bodyPr wrap="square" rtlCol="0" anchor="ctr"/>
          <a:lstStyle/>
          <a:p>
            <a:pPr marL="0" indent="0">
              <a:buNone/>
            </a:pPr>
            <a:r>
              <a:rPr lang="en-US" sz="2200" b="1" dirty="0">
                <a:solidFill>
                  <a:srgbClr val="009B7A"/>
                </a:solidFill>
                <a:latin typeface="Georgia" pitchFamily="34" charset="0"/>
                <a:ea typeface="Georgia" pitchFamily="34" charset="-122"/>
                <a:cs typeface="Georgia" pitchFamily="34" charset="-120"/>
              </a:rPr>
              <a:t>272 TWh</a:t>
            </a:r>
            <a:endParaRPr lang="en-US" sz="2200" dirty="0"/>
          </a:p>
        </p:txBody>
      </p:sp>
      <p:sp>
        <p:nvSpPr>
          <p:cNvPr id="21" name="Text 19"/>
          <p:cNvSpPr/>
          <p:nvPr/>
        </p:nvSpPr>
        <p:spPr>
          <a:xfrm>
            <a:off x="448056" y="2953512"/>
            <a:ext cx="2898648" cy="182880"/>
          </a:xfrm>
          <a:prstGeom prst="rect">
            <a:avLst/>
          </a:prstGeom>
          <a:noFill/>
          <a:ln/>
        </p:spPr>
        <p:txBody>
          <a:bodyPr wrap="square" rtlCol="0" anchor="ctr"/>
          <a:lstStyle/>
          <a:p>
            <a:pPr marL="0" indent="0">
              <a:buNone/>
            </a:pPr>
            <a:r>
              <a:rPr lang="en-US" sz="700" b="1" kern="0" spc="50" dirty="0">
                <a:solidFill>
                  <a:srgbClr val="8899AA"/>
                </a:solidFill>
                <a:latin typeface="Calibri" pitchFamily="34" charset="0"/>
                <a:ea typeface="Calibri" pitchFamily="34" charset="-122"/>
                <a:cs typeface="Calibri" pitchFamily="34" charset="-120"/>
              </a:rPr>
              <a:t>Simulated annual generation</a:t>
            </a:r>
            <a:endParaRPr lang="en-US" sz="700" dirty="0"/>
          </a:p>
        </p:txBody>
      </p:sp>
      <p:sp>
        <p:nvSpPr>
          <p:cNvPr id="22" name="Text 20"/>
          <p:cNvSpPr/>
          <p:nvPr/>
        </p:nvSpPr>
        <p:spPr>
          <a:xfrm>
            <a:off x="448056" y="3136392"/>
            <a:ext cx="2898648" cy="365760"/>
          </a:xfrm>
          <a:prstGeom prst="rect">
            <a:avLst/>
          </a:prstGeom>
          <a:noFill/>
          <a:ln/>
        </p:spPr>
        <p:txBody>
          <a:bodyPr wrap="square" rtlCol="0" anchor="ctr"/>
          <a:lstStyle/>
          <a:p>
            <a:pPr marL="0" indent="0">
              <a:lnSpc>
                <a:spcPct val="125000"/>
              </a:lnSpc>
              <a:buNone/>
            </a:pPr>
            <a:r>
              <a:rPr lang="en-US" sz="750" dirty="0">
                <a:solidFill>
                  <a:srgbClr val="5A6A7E"/>
                </a:solidFill>
                <a:latin typeface="Calibri" pitchFamily="34" charset="0"/>
                <a:ea typeface="Calibri" pitchFamily="34" charset="-122"/>
                <a:cs typeface="Calibri" pitchFamily="34" charset="-120"/>
              </a:rPr>
              <a:t>Within 1% of GB's actual 2023 consumption — energy balance confirmed across all 8,760 hourly snapshots.</a:t>
            </a:r>
            <a:endParaRPr lang="en-US" sz="750" dirty="0"/>
          </a:p>
        </p:txBody>
      </p:sp>
      <p:sp>
        <p:nvSpPr>
          <p:cNvPr id="23" name="Shape 21"/>
          <p:cNvSpPr/>
          <p:nvPr/>
        </p:nvSpPr>
        <p:spPr>
          <a:xfrm>
            <a:off x="3456432" y="2542032"/>
            <a:ext cx="3081528" cy="1005840"/>
          </a:xfrm>
          <a:prstGeom prst="rect">
            <a:avLst/>
          </a:prstGeom>
          <a:solidFill>
            <a:srgbClr val="FFFFFF"/>
          </a:solidFill>
          <a:ln w="7620">
            <a:solidFill>
              <a:srgbClr val="E0E6EE"/>
            </a:solidFill>
            <a:prstDash val="solid"/>
          </a:ln>
        </p:spPr>
        <p:txBody>
          <a:bodyPr/>
          <a:lstStyle/>
          <a:p>
            <a:endParaRPr lang="en-GB"/>
          </a:p>
        </p:txBody>
      </p:sp>
      <p:sp>
        <p:nvSpPr>
          <p:cNvPr id="27" name="Shape 25"/>
          <p:cNvSpPr/>
          <p:nvPr/>
        </p:nvSpPr>
        <p:spPr>
          <a:xfrm>
            <a:off x="320040" y="3602736"/>
            <a:ext cx="3081528" cy="1005840"/>
          </a:xfrm>
          <a:prstGeom prst="rect">
            <a:avLst/>
          </a:prstGeom>
          <a:solidFill>
            <a:srgbClr val="FFFFFF"/>
          </a:solidFill>
          <a:ln w="7620">
            <a:solidFill>
              <a:srgbClr val="E0E6EE"/>
            </a:solidFill>
            <a:prstDash val="solid"/>
          </a:ln>
        </p:spPr>
        <p:txBody>
          <a:bodyPr/>
          <a:lstStyle/>
          <a:p>
            <a:endParaRPr lang="en-GB"/>
          </a:p>
        </p:txBody>
      </p:sp>
      <p:sp>
        <p:nvSpPr>
          <p:cNvPr id="28" name="Text 26"/>
          <p:cNvSpPr/>
          <p:nvPr/>
        </p:nvSpPr>
        <p:spPr>
          <a:xfrm>
            <a:off x="448056" y="3694176"/>
            <a:ext cx="2898648" cy="329184"/>
          </a:xfrm>
          <a:prstGeom prst="rect">
            <a:avLst/>
          </a:prstGeom>
          <a:noFill/>
          <a:ln/>
        </p:spPr>
        <p:txBody>
          <a:bodyPr wrap="square" rtlCol="0" anchor="ctr"/>
          <a:lstStyle/>
          <a:p>
            <a:pPr marL="0" indent="0">
              <a:buNone/>
            </a:pPr>
            <a:r>
              <a:rPr lang="en-US" sz="2200" b="1" dirty="0">
                <a:solidFill>
                  <a:srgbClr val="009B7A"/>
                </a:solidFill>
                <a:latin typeface="Georgia" pitchFamily="34" charset="0"/>
                <a:ea typeface="Georgia" pitchFamily="34" charset="-122"/>
                <a:cs typeface="Georgia" pitchFamily="34" charset="-120"/>
              </a:rPr>
              <a:t>0 gCO₂</a:t>
            </a:r>
            <a:endParaRPr lang="en-US" sz="2200" dirty="0"/>
          </a:p>
        </p:txBody>
      </p:sp>
      <p:sp>
        <p:nvSpPr>
          <p:cNvPr id="29" name="Text 27"/>
          <p:cNvSpPr/>
          <p:nvPr/>
        </p:nvSpPr>
        <p:spPr>
          <a:xfrm>
            <a:off x="448056" y="4014216"/>
            <a:ext cx="2898648" cy="182880"/>
          </a:xfrm>
          <a:prstGeom prst="rect">
            <a:avLst/>
          </a:prstGeom>
          <a:noFill/>
          <a:ln/>
        </p:spPr>
        <p:txBody>
          <a:bodyPr wrap="square" rtlCol="0" anchor="ctr"/>
          <a:lstStyle/>
          <a:p>
            <a:pPr marL="0" indent="0">
              <a:buNone/>
            </a:pPr>
            <a:r>
              <a:rPr lang="en-US" sz="700" b="1" kern="0" spc="50" dirty="0">
                <a:solidFill>
                  <a:srgbClr val="8899AA"/>
                </a:solidFill>
                <a:latin typeface="Calibri" pitchFamily="34" charset="0"/>
                <a:ea typeface="Calibri" pitchFamily="34" charset="-122"/>
                <a:cs typeface="Calibri" pitchFamily="34" charset="-120"/>
              </a:rPr>
              <a:t>Minimum nodal intensity</a:t>
            </a:r>
            <a:endParaRPr lang="en-US" sz="700" dirty="0"/>
          </a:p>
        </p:txBody>
      </p:sp>
      <p:sp>
        <p:nvSpPr>
          <p:cNvPr id="30" name="Text 28"/>
          <p:cNvSpPr/>
          <p:nvPr/>
        </p:nvSpPr>
        <p:spPr>
          <a:xfrm>
            <a:off x="448056" y="4197096"/>
            <a:ext cx="2898648" cy="365760"/>
          </a:xfrm>
          <a:prstGeom prst="rect">
            <a:avLst/>
          </a:prstGeom>
          <a:noFill/>
          <a:ln/>
        </p:spPr>
        <p:txBody>
          <a:bodyPr wrap="square" rtlCol="0" anchor="ctr"/>
          <a:lstStyle/>
          <a:p>
            <a:pPr marL="0" indent="0">
              <a:lnSpc>
                <a:spcPct val="125000"/>
              </a:lnSpc>
              <a:buNone/>
            </a:pPr>
            <a:r>
              <a:rPr lang="en-US" sz="750" dirty="0">
                <a:solidFill>
                  <a:srgbClr val="5A6A7E"/>
                </a:solidFill>
                <a:latin typeface="Calibri" pitchFamily="34" charset="0"/>
                <a:ea typeface="Calibri" pitchFamily="34" charset="-122"/>
                <a:cs typeface="Calibri" pitchFamily="34" charset="-120"/>
              </a:rPr>
              <a:t>Wind &amp; nuclear buses (SMAN11, SMAN12, RACW31) achieve zero carbon intensity during high renewable periods.</a:t>
            </a:r>
            <a:endParaRPr lang="en-US" sz="750" dirty="0"/>
          </a:p>
        </p:txBody>
      </p:sp>
      <p:sp>
        <p:nvSpPr>
          <p:cNvPr id="31" name="Shape 29"/>
          <p:cNvSpPr/>
          <p:nvPr/>
        </p:nvSpPr>
        <p:spPr>
          <a:xfrm>
            <a:off x="3456432" y="3602736"/>
            <a:ext cx="3081528" cy="1005840"/>
          </a:xfrm>
          <a:prstGeom prst="rect">
            <a:avLst/>
          </a:prstGeom>
          <a:solidFill>
            <a:srgbClr val="FFFFFF"/>
          </a:solidFill>
          <a:ln w="7620">
            <a:solidFill>
              <a:srgbClr val="E0E6EE"/>
            </a:solidFill>
            <a:prstDash val="solid"/>
          </a:ln>
        </p:spPr>
        <p:txBody>
          <a:bodyPr/>
          <a:lstStyle/>
          <a:p>
            <a:endParaRPr lang="en-GB"/>
          </a:p>
        </p:txBody>
      </p:sp>
      <p:sp>
        <p:nvSpPr>
          <p:cNvPr id="32" name="Text 30"/>
          <p:cNvSpPr/>
          <p:nvPr/>
        </p:nvSpPr>
        <p:spPr>
          <a:xfrm>
            <a:off x="3584448" y="3694176"/>
            <a:ext cx="2898648" cy="329184"/>
          </a:xfrm>
          <a:prstGeom prst="rect">
            <a:avLst/>
          </a:prstGeom>
          <a:noFill/>
          <a:ln/>
        </p:spPr>
        <p:txBody>
          <a:bodyPr wrap="square" rtlCol="0" anchor="ctr"/>
          <a:lstStyle/>
          <a:p>
            <a:pPr marL="0" indent="0">
              <a:buNone/>
            </a:pPr>
            <a:r>
              <a:rPr lang="en-US" sz="2200" b="1" dirty="0">
                <a:solidFill>
                  <a:srgbClr val="D84A1B"/>
                </a:solidFill>
                <a:latin typeface="Georgia" pitchFamily="34" charset="0"/>
                <a:ea typeface="Georgia" pitchFamily="34" charset="-122"/>
                <a:cs typeface="Georgia" pitchFamily="34" charset="-120"/>
              </a:rPr>
              <a:t>927 gCO₂</a:t>
            </a:r>
            <a:endParaRPr lang="en-US" sz="2200" dirty="0"/>
          </a:p>
        </p:txBody>
      </p:sp>
      <p:sp>
        <p:nvSpPr>
          <p:cNvPr id="33" name="Text 31"/>
          <p:cNvSpPr/>
          <p:nvPr/>
        </p:nvSpPr>
        <p:spPr>
          <a:xfrm>
            <a:off x="3584448" y="4014216"/>
            <a:ext cx="2898648" cy="182880"/>
          </a:xfrm>
          <a:prstGeom prst="rect">
            <a:avLst/>
          </a:prstGeom>
          <a:noFill/>
          <a:ln/>
        </p:spPr>
        <p:txBody>
          <a:bodyPr wrap="square" rtlCol="0" anchor="ctr"/>
          <a:lstStyle/>
          <a:p>
            <a:pPr marL="0" indent="0">
              <a:buNone/>
            </a:pPr>
            <a:r>
              <a:rPr lang="en-US" sz="700" b="1" kern="0" spc="50" dirty="0">
                <a:solidFill>
                  <a:srgbClr val="8899AA"/>
                </a:solidFill>
                <a:latin typeface="Calibri" pitchFamily="34" charset="0"/>
                <a:ea typeface="Calibri" pitchFamily="34" charset="-122"/>
                <a:cs typeface="Calibri" pitchFamily="34" charset="-120"/>
              </a:rPr>
              <a:t>Maximum nodal intensity</a:t>
            </a:r>
            <a:endParaRPr lang="en-US" sz="700" dirty="0"/>
          </a:p>
        </p:txBody>
      </p:sp>
      <p:sp>
        <p:nvSpPr>
          <p:cNvPr id="34" name="Text 32"/>
          <p:cNvSpPr/>
          <p:nvPr/>
        </p:nvSpPr>
        <p:spPr>
          <a:xfrm>
            <a:off x="3584448" y="4197096"/>
            <a:ext cx="2898648" cy="365760"/>
          </a:xfrm>
          <a:prstGeom prst="rect">
            <a:avLst/>
          </a:prstGeom>
          <a:noFill/>
          <a:ln/>
        </p:spPr>
        <p:txBody>
          <a:bodyPr wrap="square" rtlCol="0" anchor="ctr"/>
          <a:lstStyle/>
          <a:p>
            <a:pPr marL="0" indent="0">
              <a:lnSpc>
                <a:spcPct val="125000"/>
              </a:lnSpc>
              <a:buNone/>
            </a:pPr>
            <a:r>
              <a:rPr lang="en-US" sz="750" dirty="0">
                <a:solidFill>
                  <a:srgbClr val="5A6A7E"/>
                </a:solidFill>
                <a:latin typeface="Calibri" pitchFamily="34" charset="0"/>
                <a:ea typeface="Calibri" pitchFamily="34" charset="-122"/>
                <a:cs typeface="Calibri" pitchFamily="34" charset="-120"/>
              </a:rPr>
              <a:t>WISD61 (coal-adjacent, SE England) records 22× the system average — invisible in regional figures.</a:t>
            </a:r>
            <a:endParaRPr lang="en-US" sz="750" dirty="0"/>
          </a:p>
        </p:txBody>
      </p:sp>
      <p:sp>
        <p:nvSpPr>
          <p:cNvPr id="35" name="Text 33"/>
          <p:cNvSpPr/>
          <p:nvPr/>
        </p:nvSpPr>
        <p:spPr>
          <a:xfrm>
            <a:off x="320040" y="4663440"/>
            <a:ext cx="6217920" cy="182880"/>
          </a:xfrm>
          <a:prstGeom prst="rect">
            <a:avLst/>
          </a:prstGeom>
          <a:noFill/>
          <a:ln/>
        </p:spPr>
        <p:txBody>
          <a:bodyPr wrap="square" rtlCol="0" anchor="ctr"/>
          <a:lstStyle/>
          <a:p>
            <a:pPr marL="0" indent="0">
              <a:buNone/>
            </a:pPr>
            <a:r>
              <a:rPr lang="en-US" sz="650" b="1" kern="0" spc="200" dirty="0">
                <a:solidFill>
                  <a:srgbClr val="00C49A"/>
                </a:solidFill>
                <a:latin typeface="Calibri" pitchFamily="34" charset="0"/>
                <a:ea typeface="Calibri" pitchFamily="34" charset="-122"/>
                <a:cs typeface="Calibri" pitchFamily="34" charset="-120"/>
              </a:rPr>
              <a:t>NODAL CARBON INTENSITY  —  TOP AND BOTTOM 5 BUSES</a:t>
            </a:r>
            <a:endParaRPr lang="en-US" sz="650" dirty="0"/>
          </a:p>
        </p:txBody>
      </p:sp>
      <p:sp>
        <p:nvSpPr>
          <p:cNvPr id="36" name="Shape 34"/>
          <p:cNvSpPr/>
          <p:nvPr/>
        </p:nvSpPr>
        <p:spPr>
          <a:xfrm>
            <a:off x="320040" y="4901184"/>
            <a:ext cx="3090672" cy="237744"/>
          </a:xfrm>
          <a:prstGeom prst="rect">
            <a:avLst/>
          </a:prstGeom>
          <a:solidFill>
            <a:srgbClr val="FFF0ED"/>
          </a:solidFill>
          <a:ln w="12700">
            <a:solidFill>
              <a:srgbClr val="FFF0ED"/>
            </a:solidFill>
            <a:prstDash val="solid"/>
          </a:ln>
        </p:spPr>
        <p:txBody>
          <a:bodyPr/>
          <a:lstStyle/>
          <a:p>
            <a:endParaRPr lang="en-GB"/>
          </a:p>
        </p:txBody>
      </p:sp>
      <p:sp>
        <p:nvSpPr>
          <p:cNvPr id="37" name="Text 35"/>
          <p:cNvSpPr/>
          <p:nvPr/>
        </p:nvSpPr>
        <p:spPr>
          <a:xfrm>
            <a:off x="411480" y="4937760"/>
            <a:ext cx="2962656" cy="182880"/>
          </a:xfrm>
          <a:prstGeom prst="rect">
            <a:avLst/>
          </a:prstGeom>
          <a:noFill/>
          <a:ln/>
        </p:spPr>
        <p:txBody>
          <a:bodyPr wrap="square" rtlCol="0" anchor="ctr"/>
          <a:lstStyle/>
          <a:p>
            <a:pPr marL="0" indent="0">
              <a:buNone/>
            </a:pPr>
            <a:r>
              <a:rPr lang="en-US" sz="700" b="1" dirty="0">
                <a:solidFill>
                  <a:srgbClr val="A83200"/>
                </a:solidFill>
                <a:latin typeface="Calibri" pitchFamily="34" charset="0"/>
                <a:ea typeface="Calibri" pitchFamily="34" charset="-122"/>
                <a:cs typeface="Calibri" pitchFamily="34" charset="-120"/>
              </a:rPr>
              <a:t>▲  Highest emitting buses (mean CI, gCO₂/kWh)</a:t>
            </a:r>
            <a:endParaRPr lang="en-US" sz="700" dirty="0"/>
          </a:p>
        </p:txBody>
      </p:sp>
      <p:sp>
        <p:nvSpPr>
          <p:cNvPr id="38" name="Shape 36"/>
          <p:cNvSpPr/>
          <p:nvPr/>
        </p:nvSpPr>
        <p:spPr>
          <a:xfrm>
            <a:off x="320040" y="5138928"/>
            <a:ext cx="3090672" cy="0"/>
          </a:xfrm>
          <a:prstGeom prst="line">
            <a:avLst/>
          </a:prstGeom>
          <a:noFill/>
          <a:ln w="5080">
            <a:solidFill>
              <a:srgbClr val="E0E6EE"/>
            </a:solidFill>
            <a:prstDash val="solid"/>
          </a:ln>
        </p:spPr>
        <p:txBody>
          <a:bodyPr/>
          <a:lstStyle/>
          <a:p>
            <a:endParaRPr lang="en-GB"/>
          </a:p>
        </p:txBody>
      </p:sp>
      <p:sp>
        <p:nvSpPr>
          <p:cNvPr id="39" name="Text 37"/>
          <p:cNvSpPr/>
          <p:nvPr/>
        </p:nvSpPr>
        <p:spPr>
          <a:xfrm>
            <a:off x="411480" y="5175504"/>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WISD61</a:t>
            </a:r>
            <a:endParaRPr lang="en-US" sz="750" dirty="0"/>
          </a:p>
        </p:txBody>
      </p:sp>
      <p:sp>
        <p:nvSpPr>
          <p:cNvPr id="40" name="Text 38"/>
          <p:cNvSpPr/>
          <p:nvPr/>
        </p:nvSpPr>
        <p:spPr>
          <a:xfrm>
            <a:off x="1216152" y="5175504"/>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Coal-adjacent · SE England</a:t>
            </a:r>
            <a:endParaRPr lang="en-US" sz="650" dirty="0"/>
          </a:p>
        </p:txBody>
      </p:sp>
      <p:sp>
        <p:nvSpPr>
          <p:cNvPr id="41" name="Text 39"/>
          <p:cNvSpPr/>
          <p:nvPr/>
        </p:nvSpPr>
        <p:spPr>
          <a:xfrm>
            <a:off x="2770632" y="5175504"/>
            <a:ext cx="548640" cy="164592"/>
          </a:xfrm>
          <a:prstGeom prst="rect">
            <a:avLst/>
          </a:prstGeom>
          <a:noFill/>
          <a:ln/>
        </p:spPr>
        <p:txBody>
          <a:bodyPr wrap="square" rtlCol="0" anchor="ctr"/>
          <a:lstStyle/>
          <a:p>
            <a:pPr algn="r"/>
            <a:r>
              <a:rPr lang="en-US" sz="750" b="1" dirty="0">
                <a:solidFill>
                  <a:srgbClr val="D84A1B"/>
                </a:solidFill>
                <a:latin typeface="Calibri" pitchFamily="34" charset="0"/>
                <a:ea typeface="Calibri" pitchFamily="34" charset="-122"/>
                <a:cs typeface="Calibri" pitchFamily="34" charset="-120"/>
              </a:rPr>
              <a:t>926.5</a:t>
            </a:r>
            <a:endParaRPr lang="en-US" sz="750" dirty="0"/>
          </a:p>
        </p:txBody>
      </p:sp>
      <p:sp>
        <p:nvSpPr>
          <p:cNvPr id="42" name="Shape 40"/>
          <p:cNvSpPr/>
          <p:nvPr/>
        </p:nvSpPr>
        <p:spPr>
          <a:xfrm>
            <a:off x="320040" y="5376672"/>
            <a:ext cx="3090672" cy="237744"/>
          </a:xfrm>
          <a:prstGeom prst="rect">
            <a:avLst/>
          </a:prstGeom>
          <a:solidFill>
            <a:srgbClr val="F8FAFC"/>
          </a:solidFill>
          <a:ln w="12700">
            <a:solidFill>
              <a:srgbClr val="F8FAFC"/>
            </a:solidFill>
            <a:prstDash val="solid"/>
          </a:ln>
        </p:spPr>
        <p:txBody>
          <a:bodyPr/>
          <a:lstStyle/>
          <a:p>
            <a:endParaRPr lang="en-GB"/>
          </a:p>
        </p:txBody>
      </p:sp>
      <p:sp>
        <p:nvSpPr>
          <p:cNvPr id="43" name="Shape 41"/>
          <p:cNvSpPr/>
          <p:nvPr/>
        </p:nvSpPr>
        <p:spPr>
          <a:xfrm>
            <a:off x="320040" y="5376672"/>
            <a:ext cx="3090672" cy="0"/>
          </a:xfrm>
          <a:prstGeom prst="line">
            <a:avLst/>
          </a:prstGeom>
          <a:noFill/>
          <a:ln w="5080">
            <a:solidFill>
              <a:srgbClr val="E0E6EE"/>
            </a:solidFill>
            <a:prstDash val="solid"/>
          </a:ln>
        </p:spPr>
        <p:txBody>
          <a:bodyPr/>
          <a:lstStyle/>
          <a:p>
            <a:endParaRPr lang="en-GB"/>
          </a:p>
        </p:txBody>
      </p:sp>
      <p:sp>
        <p:nvSpPr>
          <p:cNvPr id="44" name="Text 42"/>
          <p:cNvSpPr/>
          <p:nvPr/>
        </p:nvSpPr>
        <p:spPr>
          <a:xfrm>
            <a:off x="411480" y="5413248"/>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NECH11</a:t>
            </a:r>
            <a:endParaRPr lang="en-US" sz="750" dirty="0"/>
          </a:p>
        </p:txBody>
      </p:sp>
      <p:sp>
        <p:nvSpPr>
          <p:cNvPr id="45" name="Text 43"/>
          <p:cNvSpPr/>
          <p:nvPr/>
        </p:nvSpPr>
        <p:spPr>
          <a:xfrm>
            <a:off x="1216152" y="5413248"/>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Gas OCGT · NE England</a:t>
            </a:r>
            <a:endParaRPr lang="en-US" sz="650" dirty="0"/>
          </a:p>
        </p:txBody>
      </p:sp>
      <p:sp>
        <p:nvSpPr>
          <p:cNvPr id="46" name="Text 44"/>
          <p:cNvSpPr/>
          <p:nvPr/>
        </p:nvSpPr>
        <p:spPr>
          <a:xfrm>
            <a:off x="2770632" y="5413248"/>
            <a:ext cx="548640" cy="164592"/>
          </a:xfrm>
          <a:prstGeom prst="rect">
            <a:avLst/>
          </a:prstGeom>
          <a:noFill/>
          <a:ln/>
        </p:spPr>
        <p:txBody>
          <a:bodyPr wrap="square" rtlCol="0" anchor="ctr"/>
          <a:lstStyle/>
          <a:p>
            <a:pPr marL="0" indent="0" algn="r">
              <a:buNone/>
            </a:pPr>
            <a:r>
              <a:rPr lang="en-US" sz="750" b="1" dirty="0">
                <a:solidFill>
                  <a:srgbClr val="D84A1B"/>
                </a:solidFill>
                <a:latin typeface="Calibri" pitchFamily="34" charset="0"/>
                <a:ea typeface="Calibri" pitchFamily="34" charset="-122"/>
                <a:cs typeface="Calibri" pitchFamily="34" charset="-120"/>
              </a:rPr>
              <a:t>650.8</a:t>
            </a:r>
            <a:endParaRPr lang="en-US" sz="750" dirty="0"/>
          </a:p>
        </p:txBody>
      </p:sp>
      <p:sp>
        <p:nvSpPr>
          <p:cNvPr id="47" name="Shape 45"/>
          <p:cNvSpPr/>
          <p:nvPr/>
        </p:nvSpPr>
        <p:spPr>
          <a:xfrm>
            <a:off x="320040" y="5614416"/>
            <a:ext cx="3090672" cy="0"/>
          </a:xfrm>
          <a:prstGeom prst="line">
            <a:avLst/>
          </a:prstGeom>
          <a:noFill/>
          <a:ln w="5080">
            <a:solidFill>
              <a:srgbClr val="E0E6EE"/>
            </a:solidFill>
            <a:prstDash val="solid"/>
          </a:ln>
        </p:spPr>
        <p:txBody>
          <a:bodyPr/>
          <a:lstStyle/>
          <a:p>
            <a:endParaRPr lang="en-GB" dirty="0"/>
          </a:p>
        </p:txBody>
      </p:sp>
      <p:sp>
        <p:nvSpPr>
          <p:cNvPr id="48" name="Text 46"/>
          <p:cNvSpPr/>
          <p:nvPr/>
        </p:nvSpPr>
        <p:spPr>
          <a:xfrm>
            <a:off x="411480" y="5650992"/>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BRFO11</a:t>
            </a:r>
            <a:endParaRPr lang="en-US" sz="750" dirty="0"/>
          </a:p>
        </p:txBody>
      </p:sp>
      <p:sp>
        <p:nvSpPr>
          <p:cNvPr id="49" name="Text 47"/>
          <p:cNvSpPr/>
          <p:nvPr/>
        </p:nvSpPr>
        <p:spPr>
          <a:xfrm>
            <a:off x="1216152" y="5650992"/>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Mixed thermal · Scotland</a:t>
            </a:r>
            <a:endParaRPr lang="en-US" sz="650" dirty="0"/>
          </a:p>
        </p:txBody>
      </p:sp>
      <p:sp>
        <p:nvSpPr>
          <p:cNvPr id="50" name="Text 48"/>
          <p:cNvSpPr/>
          <p:nvPr/>
        </p:nvSpPr>
        <p:spPr>
          <a:xfrm>
            <a:off x="2770632" y="5650992"/>
            <a:ext cx="548640" cy="164592"/>
          </a:xfrm>
          <a:prstGeom prst="rect">
            <a:avLst/>
          </a:prstGeom>
          <a:noFill/>
          <a:ln/>
        </p:spPr>
        <p:txBody>
          <a:bodyPr wrap="square" rtlCol="0" anchor="ctr"/>
          <a:lstStyle/>
          <a:p>
            <a:pPr marL="0" indent="0" algn="r">
              <a:buNone/>
            </a:pPr>
            <a:r>
              <a:rPr lang="en-US" sz="750" b="1" dirty="0">
                <a:solidFill>
                  <a:srgbClr val="D84A1B"/>
                </a:solidFill>
                <a:latin typeface="Calibri" pitchFamily="34" charset="0"/>
                <a:ea typeface="Calibri" pitchFamily="34" charset="-122"/>
                <a:cs typeface="Calibri" pitchFamily="34" charset="-120"/>
              </a:rPr>
              <a:t>508.5</a:t>
            </a:r>
            <a:endParaRPr lang="en-US" sz="750" dirty="0"/>
          </a:p>
        </p:txBody>
      </p:sp>
      <p:sp>
        <p:nvSpPr>
          <p:cNvPr id="51" name="Shape 49"/>
          <p:cNvSpPr/>
          <p:nvPr/>
        </p:nvSpPr>
        <p:spPr>
          <a:xfrm>
            <a:off x="320040" y="5852160"/>
            <a:ext cx="3090672" cy="237744"/>
          </a:xfrm>
          <a:prstGeom prst="rect">
            <a:avLst/>
          </a:prstGeom>
          <a:solidFill>
            <a:srgbClr val="F8FAFC"/>
          </a:solidFill>
          <a:ln w="12700">
            <a:solidFill>
              <a:srgbClr val="F8FAFC"/>
            </a:solidFill>
            <a:prstDash val="solid"/>
          </a:ln>
        </p:spPr>
        <p:txBody>
          <a:bodyPr/>
          <a:lstStyle/>
          <a:p>
            <a:endParaRPr lang="en-GB" dirty="0"/>
          </a:p>
        </p:txBody>
      </p:sp>
      <p:sp>
        <p:nvSpPr>
          <p:cNvPr id="52" name="Shape 50"/>
          <p:cNvSpPr/>
          <p:nvPr/>
        </p:nvSpPr>
        <p:spPr>
          <a:xfrm>
            <a:off x="320040" y="5852160"/>
            <a:ext cx="3090672" cy="0"/>
          </a:xfrm>
          <a:prstGeom prst="line">
            <a:avLst/>
          </a:prstGeom>
          <a:noFill/>
          <a:ln w="5080">
            <a:solidFill>
              <a:srgbClr val="E0E6EE"/>
            </a:solidFill>
            <a:prstDash val="solid"/>
          </a:ln>
        </p:spPr>
        <p:txBody>
          <a:bodyPr/>
          <a:lstStyle/>
          <a:p>
            <a:endParaRPr lang="en-GB"/>
          </a:p>
        </p:txBody>
      </p:sp>
      <p:sp>
        <p:nvSpPr>
          <p:cNvPr id="53" name="Text 51"/>
          <p:cNvSpPr/>
          <p:nvPr/>
        </p:nvSpPr>
        <p:spPr>
          <a:xfrm>
            <a:off x="411480" y="5888736"/>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ELLA11</a:t>
            </a:r>
            <a:endParaRPr lang="en-US" sz="750" dirty="0"/>
          </a:p>
        </p:txBody>
      </p:sp>
      <p:sp>
        <p:nvSpPr>
          <p:cNvPr id="54" name="Text 52"/>
          <p:cNvSpPr/>
          <p:nvPr/>
        </p:nvSpPr>
        <p:spPr>
          <a:xfrm>
            <a:off x="1216152" y="5888736"/>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Gas · East Midlands</a:t>
            </a:r>
            <a:endParaRPr lang="en-US" sz="650" dirty="0"/>
          </a:p>
        </p:txBody>
      </p:sp>
      <p:sp>
        <p:nvSpPr>
          <p:cNvPr id="55" name="Text 53"/>
          <p:cNvSpPr/>
          <p:nvPr/>
        </p:nvSpPr>
        <p:spPr>
          <a:xfrm>
            <a:off x="2770632" y="5888736"/>
            <a:ext cx="548640" cy="164592"/>
          </a:xfrm>
          <a:prstGeom prst="rect">
            <a:avLst/>
          </a:prstGeom>
          <a:noFill/>
          <a:ln/>
        </p:spPr>
        <p:txBody>
          <a:bodyPr wrap="square" rtlCol="0" anchor="ctr"/>
          <a:lstStyle/>
          <a:p>
            <a:pPr marL="0" indent="0" algn="r">
              <a:buNone/>
            </a:pPr>
            <a:r>
              <a:rPr lang="en-US" sz="750" b="1" dirty="0">
                <a:solidFill>
                  <a:srgbClr val="D84A1B"/>
                </a:solidFill>
                <a:latin typeface="Calibri" pitchFamily="34" charset="0"/>
                <a:ea typeface="Calibri" pitchFamily="34" charset="-122"/>
                <a:cs typeface="Calibri" pitchFamily="34" charset="-120"/>
              </a:rPr>
              <a:t>492.7</a:t>
            </a:r>
            <a:endParaRPr lang="en-US" sz="750" dirty="0"/>
          </a:p>
        </p:txBody>
      </p:sp>
      <p:sp>
        <p:nvSpPr>
          <p:cNvPr id="56" name="Shape 54"/>
          <p:cNvSpPr/>
          <p:nvPr/>
        </p:nvSpPr>
        <p:spPr>
          <a:xfrm>
            <a:off x="320040" y="6089904"/>
            <a:ext cx="3090672" cy="0"/>
          </a:xfrm>
          <a:prstGeom prst="line">
            <a:avLst/>
          </a:prstGeom>
          <a:noFill/>
          <a:ln w="5080">
            <a:solidFill>
              <a:srgbClr val="E0E6EE"/>
            </a:solidFill>
            <a:prstDash val="solid"/>
          </a:ln>
        </p:spPr>
        <p:txBody>
          <a:bodyPr/>
          <a:lstStyle/>
          <a:p>
            <a:endParaRPr lang="en-GB"/>
          </a:p>
        </p:txBody>
      </p:sp>
      <p:sp>
        <p:nvSpPr>
          <p:cNvPr id="57" name="Text 55"/>
          <p:cNvSpPr/>
          <p:nvPr/>
        </p:nvSpPr>
        <p:spPr>
          <a:xfrm>
            <a:off x="411480" y="6126480"/>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MEDW41</a:t>
            </a:r>
            <a:endParaRPr lang="en-US" sz="750" dirty="0"/>
          </a:p>
        </p:txBody>
      </p:sp>
      <p:sp>
        <p:nvSpPr>
          <p:cNvPr id="58" name="Text 56"/>
          <p:cNvSpPr/>
          <p:nvPr/>
        </p:nvSpPr>
        <p:spPr>
          <a:xfrm>
            <a:off x="1216152" y="6126480"/>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CCGT · SE England</a:t>
            </a:r>
            <a:endParaRPr lang="en-US" sz="650" dirty="0"/>
          </a:p>
        </p:txBody>
      </p:sp>
      <p:sp>
        <p:nvSpPr>
          <p:cNvPr id="59" name="Text 57"/>
          <p:cNvSpPr/>
          <p:nvPr/>
        </p:nvSpPr>
        <p:spPr>
          <a:xfrm>
            <a:off x="2770632" y="6126480"/>
            <a:ext cx="548640" cy="164592"/>
          </a:xfrm>
          <a:prstGeom prst="rect">
            <a:avLst/>
          </a:prstGeom>
          <a:noFill/>
          <a:ln/>
        </p:spPr>
        <p:txBody>
          <a:bodyPr wrap="square" rtlCol="0" anchor="ctr"/>
          <a:lstStyle/>
          <a:p>
            <a:pPr marL="0" indent="0" algn="r">
              <a:buNone/>
            </a:pPr>
            <a:r>
              <a:rPr lang="en-US" sz="750" b="1" dirty="0">
                <a:solidFill>
                  <a:srgbClr val="D84A1B"/>
                </a:solidFill>
                <a:latin typeface="Calibri" pitchFamily="34" charset="0"/>
                <a:ea typeface="Calibri" pitchFamily="34" charset="-122"/>
                <a:cs typeface="Calibri" pitchFamily="34" charset="-120"/>
              </a:rPr>
              <a:t>394.0</a:t>
            </a:r>
            <a:endParaRPr lang="en-US" sz="750" dirty="0"/>
          </a:p>
        </p:txBody>
      </p:sp>
      <p:sp>
        <p:nvSpPr>
          <p:cNvPr id="61" name="Shape 59"/>
          <p:cNvSpPr/>
          <p:nvPr/>
        </p:nvSpPr>
        <p:spPr>
          <a:xfrm>
            <a:off x="3447288" y="4901184"/>
            <a:ext cx="3090672" cy="237744"/>
          </a:xfrm>
          <a:prstGeom prst="rect">
            <a:avLst/>
          </a:prstGeom>
          <a:solidFill>
            <a:srgbClr val="E8F8F3"/>
          </a:solidFill>
          <a:ln w="12700">
            <a:solidFill>
              <a:srgbClr val="E8F8F3"/>
            </a:solidFill>
            <a:prstDash val="solid"/>
          </a:ln>
        </p:spPr>
        <p:txBody>
          <a:bodyPr/>
          <a:lstStyle/>
          <a:p>
            <a:endParaRPr lang="en-GB"/>
          </a:p>
        </p:txBody>
      </p:sp>
      <p:sp>
        <p:nvSpPr>
          <p:cNvPr id="62" name="Text 60"/>
          <p:cNvSpPr/>
          <p:nvPr/>
        </p:nvSpPr>
        <p:spPr>
          <a:xfrm>
            <a:off x="3538728" y="4937760"/>
            <a:ext cx="2962656" cy="182880"/>
          </a:xfrm>
          <a:prstGeom prst="rect">
            <a:avLst/>
          </a:prstGeom>
          <a:noFill/>
          <a:ln/>
        </p:spPr>
        <p:txBody>
          <a:bodyPr wrap="square" rtlCol="0" anchor="ctr"/>
          <a:lstStyle/>
          <a:p>
            <a:pPr marL="0" indent="0">
              <a:buNone/>
            </a:pPr>
            <a:r>
              <a:rPr lang="en-US" sz="700" b="1" dirty="0">
                <a:solidFill>
                  <a:srgbClr val="007A5A"/>
                </a:solidFill>
                <a:latin typeface="Calibri" pitchFamily="34" charset="0"/>
                <a:ea typeface="Calibri" pitchFamily="34" charset="-122"/>
                <a:cs typeface="Calibri" pitchFamily="34" charset="-120"/>
              </a:rPr>
              <a:t>▼  Lowest emitting buses (mean CI, gCO₂/kWh)</a:t>
            </a:r>
            <a:endParaRPr lang="en-US" sz="700" dirty="0"/>
          </a:p>
        </p:txBody>
      </p:sp>
      <p:sp>
        <p:nvSpPr>
          <p:cNvPr id="63" name="Shape 61"/>
          <p:cNvSpPr/>
          <p:nvPr/>
        </p:nvSpPr>
        <p:spPr>
          <a:xfrm>
            <a:off x="3447288" y="5138928"/>
            <a:ext cx="3090672" cy="0"/>
          </a:xfrm>
          <a:prstGeom prst="line">
            <a:avLst/>
          </a:prstGeom>
          <a:noFill/>
          <a:ln w="5080">
            <a:solidFill>
              <a:srgbClr val="E0E6EE"/>
            </a:solidFill>
            <a:prstDash val="solid"/>
          </a:ln>
        </p:spPr>
        <p:txBody>
          <a:bodyPr/>
          <a:lstStyle/>
          <a:p>
            <a:endParaRPr lang="en-GB"/>
          </a:p>
        </p:txBody>
      </p:sp>
      <p:sp>
        <p:nvSpPr>
          <p:cNvPr id="64" name="Text 62"/>
          <p:cNvSpPr/>
          <p:nvPr/>
        </p:nvSpPr>
        <p:spPr>
          <a:xfrm>
            <a:off x="3538728" y="5175504"/>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HVDC_Ire…</a:t>
            </a:r>
            <a:endParaRPr lang="en-US" sz="750" dirty="0"/>
          </a:p>
        </p:txBody>
      </p:sp>
      <p:sp>
        <p:nvSpPr>
          <p:cNvPr id="65" name="Text 63"/>
          <p:cNvSpPr/>
          <p:nvPr/>
        </p:nvSpPr>
        <p:spPr>
          <a:xfrm>
            <a:off x="4343400" y="5175504"/>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Irish interconnector</a:t>
            </a:r>
            <a:endParaRPr lang="en-US" sz="650" dirty="0"/>
          </a:p>
        </p:txBody>
      </p:sp>
      <p:sp>
        <p:nvSpPr>
          <p:cNvPr id="66" name="Text 64"/>
          <p:cNvSpPr/>
          <p:nvPr/>
        </p:nvSpPr>
        <p:spPr>
          <a:xfrm>
            <a:off x="5897880" y="5175504"/>
            <a:ext cx="548640" cy="164592"/>
          </a:xfrm>
          <a:prstGeom prst="rect">
            <a:avLst/>
          </a:prstGeom>
          <a:noFill/>
          <a:ln/>
        </p:spPr>
        <p:txBody>
          <a:bodyPr wrap="square" rtlCol="0" anchor="ctr"/>
          <a:lstStyle/>
          <a:p>
            <a:pPr marL="0" indent="0" algn="r">
              <a:buNone/>
            </a:pPr>
            <a:r>
              <a:rPr lang="en-US" sz="750" b="1" dirty="0">
                <a:solidFill>
                  <a:srgbClr val="009B7A"/>
                </a:solidFill>
                <a:latin typeface="Calibri" pitchFamily="34" charset="0"/>
                <a:ea typeface="Calibri" pitchFamily="34" charset="-122"/>
                <a:cs typeface="Calibri" pitchFamily="34" charset="-120"/>
              </a:rPr>
              <a:t>0.0</a:t>
            </a:r>
            <a:endParaRPr lang="en-US" sz="750" dirty="0"/>
          </a:p>
        </p:txBody>
      </p:sp>
      <p:sp>
        <p:nvSpPr>
          <p:cNvPr id="67" name="Shape 65"/>
          <p:cNvSpPr/>
          <p:nvPr/>
        </p:nvSpPr>
        <p:spPr>
          <a:xfrm>
            <a:off x="3447288" y="5376672"/>
            <a:ext cx="3090672" cy="237744"/>
          </a:xfrm>
          <a:prstGeom prst="rect">
            <a:avLst/>
          </a:prstGeom>
          <a:solidFill>
            <a:srgbClr val="F8FAFC"/>
          </a:solidFill>
          <a:ln w="12700">
            <a:solidFill>
              <a:srgbClr val="F8FAFC"/>
            </a:solidFill>
            <a:prstDash val="solid"/>
          </a:ln>
        </p:spPr>
        <p:txBody>
          <a:bodyPr/>
          <a:lstStyle/>
          <a:p>
            <a:endParaRPr lang="en-GB"/>
          </a:p>
        </p:txBody>
      </p:sp>
      <p:sp>
        <p:nvSpPr>
          <p:cNvPr id="68" name="Shape 66"/>
          <p:cNvSpPr/>
          <p:nvPr/>
        </p:nvSpPr>
        <p:spPr>
          <a:xfrm>
            <a:off x="3447288" y="5376672"/>
            <a:ext cx="3090672" cy="0"/>
          </a:xfrm>
          <a:prstGeom prst="line">
            <a:avLst/>
          </a:prstGeom>
          <a:noFill/>
          <a:ln w="5080">
            <a:solidFill>
              <a:srgbClr val="E0E6EE"/>
            </a:solidFill>
            <a:prstDash val="solid"/>
          </a:ln>
        </p:spPr>
        <p:txBody>
          <a:bodyPr/>
          <a:lstStyle/>
          <a:p>
            <a:endParaRPr lang="en-GB"/>
          </a:p>
        </p:txBody>
      </p:sp>
      <p:sp>
        <p:nvSpPr>
          <p:cNvPr id="69" name="Text 67"/>
          <p:cNvSpPr/>
          <p:nvPr/>
        </p:nvSpPr>
        <p:spPr>
          <a:xfrm>
            <a:off x="3538728" y="5413248"/>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RACW31</a:t>
            </a:r>
            <a:endParaRPr lang="en-US" sz="750" dirty="0"/>
          </a:p>
        </p:txBody>
      </p:sp>
      <p:sp>
        <p:nvSpPr>
          <p:cNvPr id="70" name="Text 68"/>
          <p:cNvSpPr/>
          <p:nvPr/>
        </p:nvSpPr>
        <p:spPr>
          <a:xfrm>
            <a:off x="4343400" y="5413248"/>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Wind-dominated bus</a:t>
            </a:r>
            <a:endParaRPr lang="en-US" sz="650" dirty="0"/>
          </a:p>
        </p:txBody>
      </p:sp>
      <p:sp>
        <p:nvSpPr>
          <p:cNvPr id="71" name="Text 69"/>
          <p:cNvSpPr/>
          <p:nvPr/>
        </p:nvSpPr>
        <p:spPr>
          <a:xfrm>
            <a:off x="5897880" y="5413248"/>
            <a:ext cx="548640" cy="164592"/>
          </a:xfrm>
          <a:prstGeom prst="rect">
            <a:avLst/>
          </a:prstGeom>
          <a:noFill/>
          <a:ln/>
        </p:spPr>
        <p:txBody>
          <a:bodyPr wrap="square" rtlCol="0" anchor="ctr"/>
          <a:lstStyle/>
          <a:p>
            <a:pPr marL="0" indent="0" algn="r">
              <a:buNone/>
            </a:pPr>
            <a:r>
              <a:rPr lang="en-US" sz="750" b="1" dirty="0">
                <a:solidFill>
                  <a:srgbClr val="009B7A"/>
                </a:solidFill>
                <a:latin typeface="Calibri" pitchFamily="34" charset="0"/>
                <a:ea typeface="Calibri" pitchFamily="34" charset="-122"/>
                <a:cs typeface="Calibri" pitchFamily="34" charset="-120"/>
              </a:rPr>
              <a:t>0.0</a:t>
            </a:r>
            <a:endParaRPr lang="en-US" sz="750" dirty="0"/>
          </a:p>
        </p:txBody>
      </p:sp>
      <p:sp>
        <p:nvSpPr>
          <p:cNvPr id="72" name="Shape 70"/>
          <p:cNvSpPr/>
          <p:nvPr/>
        </p:nvSpPr>
        <p:spPr>
          <a:xfrm>
            <a:off x="3447288" y="5614416"/>
            <a:ext cx="3090672" cy="0"/>
          </a:xfrm>
          <a:prstGeom prst="line">
            <a:avLst/>
          </a:prstGeom>
          <a:noFill/>
          <a:ln w="5080">
            <a:solidFill>
              <a:srgbClr val="E0E6EE"/>
            </a:solidFill>
            <a:prstDash val="solid"/>
          </a:ln>
        </p:spPr>
        <p:txBody>
          <a:bodyPr/>
          <a:lstStyle/>
          <a:p>
            <a:endParaRPr lang="en-GB"/>
          </a:p>
        </p:txBody>
      </p:sp>
      <p:sp>
        <p:nvSpPr>
          <p:cNvPr id="73" name="Text 71"/>
          <p:cNvSpPr/>
          <p:nvPr/>
        </p:nvSpPr>
        <p:spPr>
          <a:xfrm>
            <a:off x="3538728" y="5650992"/>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WERW31</a:t>
            </a:r>
            <a:endParaRPr lang="en-US" sz="750" dirty="0"/>
          </a:p>
        </p:txBody>
      </p:sp>
      <p:sp>
        <p:nvSpPr>
          <p:cNvPr id="74" name="Text 72"/>
          <p:cNvSpPr/>
          <p:nvPr/>
        </p:nvSpPr>
        <p:spPr>
          <a:xfrm>
            <a:off x="4343400" y="5650992"/>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Wind-dominated bus</a:t>
            </a:r>
            <a:endParaRPr lang="en-US" sz="650" dirty="0"/>
          </a:p>
        </p:txBody>
      </p:sp>
      <p:sp>
        <p:nvSpPr>
          <p:cNvPr id="75" name="Text 73"/>
          <p:cNvSpPr/>
          <p:nvPr/>
        </p:nvSpPr>
        <p:spPr>
          <a:xfrm>
            <a:off x="5897880" y="5650992"/>
            <a:ext cx="548640" cy="164592"/>
          </a:xfrm>
          <a:prstGeom prst="rect">
            <a:avLst/>
          </a:prstGeom>
          <a:noFill/>
          <a:ln/>
        </p:spPr>
        <p:txBody>
          <a:bodyPr wrap="square" rtlCol="0" anchor="ctr"/>
          <a:lstStyle/>
          <a:p>
            <a:pPr marL="0" indent="0" algn="r">
              <a:buNone/>
            </a:pPr>
            <a:r>
              <a:rPr lang="en-US" sz="750" b="1" dirty="0">
                <a:solidFill>
                  <a:srgbClr val="009B7A"/>
                </a:solidFill>
                <a:latin typeface="Calibri" pitchFamily="34" charset="0"/>
                <a:ea typeface="Calibri" pitchFamily="34" charset="-122"/>
                <a:cs typeface="Calibri" pitchFamily="34" charset="-120"/>
              </a:rPr>
              <a:t>0.0</a:t>
            </a:r>
            <a:endParaRPr lang="en-US" sz="750" dirty="0"/>
          </a:p>
        </p:txBody>
      </p:sp>
      <p:sp>
        <p:nvSpPr>
          <p:cNvPr id="76" name="Shape 74"/>
          <p:cNvSpPr/>
          <p:nvPr/>
        </p:nvSpPr>
        <p:spPr>
          <a:xfrm>
            <a:off x="3447288" y="5852160"/>
            <a:ext cx="3090672" cy="237744"/>
          </a:xfrm>
          <a:prstGeom prst="rect">
            <a:avLst/>
          </a:prstGeom>
          <a:solidFill>
            <a:srgbClr val="F8FAFC"/>
          </a:solidFill>
          <a:ln w="12700">
            <a:solidFill>
              <a:srgbClr val="F8FAFC"/>
            </a:solidFill>
            <a:prstDash val="solid"/>
          </a:ln>
        </p:spPr>
        <p:txBody>
          <a:bodyPr/>
          <a:lstStyle/>
          <a:p>
            <a:endParaRPr lang="en-GB"/>
          </a:p>
        </p:txBody>
      </p:sp>
      <p:sp>
        <p:nvSpPr>
          <p:cNvPr id="77" name="Shape 75"/>
          <p:cNvSpPr/>
          <p:nvPr/>
        </p:nvSpPr>
        <p:spPr>
          <a:xfrm>
            <a:off x="3447288" y="5852160"/>
            <a:ext cx="3090672" cy="0"/>
          </a:xfrm>
          <a:prstGeom prst="line">
            <a:avLst/>
          </a:prstGeom>
          <a:noFill/>
          <a:ln w="5080">
            <a:solidFill>
              <a:srgbClr val="E0E6EE"/>
            </a:solidFill>
            <a:prstDash val="solid"/>
          </a:ln>
        </p:spPr>
        <p:txBody>
          <a:bodyPr/>
          <a:lstStyle/>
          <a:p>
            <a:endParaRPr lang="en-GB"/>
          </a:p>
        </p:txBody>
      </p:sp>
      <p:sp>
        <p:nvSpPr>
          <p:cNvPr id="78" name="Text 76"/>
          <p:cNvSpPr/>
          <p:nvPr/>
        </p:nvSpPr>
        <p:spPr>
          <a:xfrm>
            <a:off x="3538728" y="5888736"/>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SMAN11</a:t>
            </a:r>
            <a:endParaRPr lang="en-US" sz="750" dirty="0"/>
          </a:p>
        </p:txBody>
      </p:sp>
      <p:sp>
        <p:nvSpPr>
          <p:cNvPr id="79" name="Text 77"/>
          <p:cNvSpPr/>
          <p:nvPr/>
        </p:nvSpPr>
        <p:spPr>
          <a:xfrm>
            <a:off x="4343400" y="5888736"/>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Nuclear / wind cluster</a:t>
            </a:r>
            <a:endParaRPr lang="en-US" sz="650" dirty="0"/>
          </a:p>
        </p:txBody>
      </p:sp>
      <p:sp>
        <p:nvSpPr>
          <p:cNvPr id="80" name="Text 78"/>
          <p:cNvSpPr/>
          <p:nvPr/>
        </p:nvSpPr>
        <p:spPr>
          <a:xfrm>
            <a:off x="5897880" y="5888736"/>
            <a:ext cx="548640" cy="164592"/>
          </a:xfrm>
          <a:prstGeom prst="rect">
            <a:avLst/>
          </a:prstGeom>
          <a:noFill/>
          <a:ln/>
        </p:spPr>
        <p:txBody>
          <a:bodyPr wrap="square" rtlCol="0" anchor="ctr"/>
          <a:lstStyle/>
          <a:p>
            <a:pPr marL="0" indent="0" algn="r">
              <a:buNone/>
            </a:pPr>
            <a:r>
              <a:rPr lang="en-US" sz="750" b="1" dirty="0">
                <a:solidFill>
                  <a:srgbClr val="009B7A"/>
                </a:solidFill>
                <a:latin typeface="Calibri" pitchFamily="34" charset="0"/>
                <a:ea typeface="Calibri" pitchFamily="34" charset="-122"/>
                <a:cs typeface="Calibri" pitchFamily="34" charset="-120"/>
              </a:rPr>
              <a:t>0.0</a:t>
            </a:r>
            <a:endParaRPr lang="en-US" sz="750" dirty="0"/>
          </a:p>
        </p:txBody>
      </p:sp>
      <p:sp>
        <p:nvSpPr>
          <p:cNvPr id="81" name="Shape 79"/>
          <p:cNvSpPr/>
          <p:nvPr/>
        </p:nvSpPr>
        <p:spPr>
          <a:xfrm>
            <a:off x="3447288" y="6089904"/>
            <a:ext cx="3090672" cy="0"/>
          </a:xfrm>
          <a:prstGeom prst="line">
            <a:avLst/>
          </a:prstGeom>
          <a:noFill/>
          <a:ln w="5080">
            <a:solidFill>
              <a:srgbClr val="E0E6EE"/>
            </a:solidFill>
            <a:prstDash val="solid"/>
          </a:ln>
        </p:spPr>
        <p:txBody>
          <a:bodyPr/>
          <a:lstStyle/>
          <a:p>
            <a:endParaRPr lang="en-GB"/>
          </a:p>
        </p:txBody>
      </p:sp>
      <p:sp>
        <p:nvSpPr>
          <p:cNvPr id="82" name="Text 80"/>
          <p:cNvSpPr/>
          <p:nvPr/>
        </p:nvSpPr>
        <p:spPr>
          <a:xfrm>
            <a:off x="3538728" y="6126480"/>
            <a:ext cx="777240" cy="164592"/>
          </a:xfrm>
          <a:prstGeom prst="rect">
            <a:avLst/>
          </a:prstGeom>
          <a:noFill/>
          <a:ln/>
        </p:spPr>
        <p:txBody>
          <a:bodyPr wrap="square" rtlCol="0" anchor="ctr"/>
          <a:lstStyle/>
          <a:p>
            <a:pPr marL="0" indent="0">
              <a:buNone/>
            </a:pPr>
            <a:r>
              <a:rPr lang="en-US" sz="750" b="1" dirty="0">
                <a:solidFill>
                  <a:srgbClr val="0B1D3A"/>
                </a:solidFill>
                <a:latin typeface="Calibri" pitchFamily="34" charset="0"/>
                <a:ea typeface="Calibri" pitchFamily="34" charset="-122"/>
                <a:cs typeface="Calibri" pitchFamily="34" charset="-120"/>
              </a:rPr>
              <a:t>SMAN12</a:t>
            </a:r>
            <a:endParaRPr lang="en-US" sz="750" dirty="0"/>
          </a:p>
        </p:txBody>
      </p:sp>
      <p:sp>
        <p:nvSpPr>
          <p:cNvPr id="83" name="Text 81"/>
          <p:cNvSpPr/>
          <p:nvPr/>
        </p:nvSpPr>
        <p:spPr>
          <a:xfrm>
            <a:off x="4343400" y="6126480"/>
            <a:ext cx="1417320" cy="164592"/>
          </a:xfrm>
          <a:prstGeom prst="rect">
            <a:avLst/>
          </a:prstGeom>
          <a:noFill/>
          <a:ln/>
        </p:spPr>
        <p:txBody>
          <a:bodyPr wrap="square" rtlCol="0" anchor="ctr"/>
          <a:lstStyle/>
          <a:p>
            <a:pPr marL="0" indent="0">
              <a:buNone/>
            </a:pPr>
            <a:r>
              <a:rPr lang="en-US" sz="650" dirty="0">
                <a:solidFill>
                  <a:srgbClr val="8899AA"/>
                </a:solidFill>
                <a:latin typeface="Calibri" pitchFamily="34" charset="0"/>
                <a:ea typeface="Calibri" pitchFamily="34" charset="-122"/>
                <a:cs typeface="Calibri" pitchFamily="34" charset="-120"/>
              </a:rPr>
              <a:t>Nuclear / wind cluster</a:t>
            </a:r>
            <a:endParaRPr lang="en-US" sz="650" dirty="0"/>
          </a:p>
        </p:txBody>
      </p:sp>
      <p:sp>
        <p:nvSpPr>
          <p:cNvPr id="84" name="Text 82"/>
          <p:cNvSpPr/>
          <p:nvPr/>
        </p:nvSpPr>
        <p:spPr>
          <a:xfrm>
            <a:off x="5897880" y="6126480"/>
            <a:ext cx="548640" cy="164592"/>
          </a:xfrm>
          <a:prstGeom prst="rect">
            <a:avLst/>
          </a:prstGeom>
          <a:noFill/>
          <a:ln/>
        </p:spPr>
        <p:txBody>
          <a:bodyPr wrap="square" rtlCol="0" anchor="ctr"/>
          <a:lstStyle/>
          <a:p>
            <a:pPr marL="0" indent="0" algn="r">
              <a:buNone/>
            </a:pPr>
            <a:r>
              <a:rPr lang="en-US" sz="750" b="1" dirty="0">
                <a:solidFill>
                  <a:srgbClr val="009B7A"/>
                </a:solidFill>
                <a:latin typeface="Calibri" pitchFamily="34" charset="0"/>
                <a:ea typeface="Calibri" pitchFamily="34" charset="-122"/>
                <a:cs typeface="Calibri" pitchFamily="34" charset="-120"/>
              </a:rPr>
              <a:t>0.0</a:t>
            </a:r>
            <a:endParaRPr lang="en-US" sz="750" dirty="0"/>
          </a:p>
        </p:txBody>
      </p:sp>
      <p:sp>
        <p:nvSpPr>
          <p:cNvPr id="86" name="Shape 84"/>
          <p:cNvSpPr/>
          <p:nvPr/>
        </p:nvSpPr>
        <p:spPr>
          <a:xfrm>
            <a:off x="320040" y="6419088"/>
            <a:ext cx="6217920" cy="1188720"/>
          </a:xfrm>
          <a:prstGeom prst="rect">
            <a:avLst/>
          </a:prstGeom>
          <a:solidFill>
            <a:srgbClr val="0B1D3A"/>
          </a:solidFill>
          <a:ln w="12700">
            <a:solidFill>
              <a:srgbClr val="0B1D3A"/>
            </a:solidFill>
            <a:prstDash val="solid"/>
          </a:ln>
        </p:spPr>
        <p:txBody>
          <a:bodyPr/>
          <a:lstStyle/>
          <a:p>
            <a:endParaRPr lang="en-GB"/>
          </a:p>
        </p:txBody>
      </p:sp>
      <p:sp>
        <p:nvSpPr>
          <p:cNvPr id="87" name="Text 85"/>
          <p:cNvSpPr/>
          <p:nvPr/>
        </p:nvSpPr>
        <p:spPr>
          <a:xfrm>
            <a:off x="502920" y="6492240"/>
            <a:ext cx="2743200" cy="182880"/>
          </a:xfrm>
          <a:prstGeom prst="rect">
            <a:avLst/>
          </a:prstGeom>
          <a:noFill/>
          <a:ln/>
        </p:spPr>
        <p:txBody>
          <a:bodyPr wrap="square" rtlCol="0" anchor="ctr"/>
          <a:lstStyle/>
          <a:p>
            <a:pPr marL="0" indent="0">
              <a:buNone/>
            </a:pPr>
            <a:r>
              <a:rPr lang="en-US" sz="650" b="1" kern="0" spc="200" dirty="0">
                <a:solidFill>
                  <a:srgbClr val="00C49A"/>
                </a:solidFill>
                <a:latin typeface="Calibri" pitchFamily="34" charset="0"/>
                <a:ea typeface="Calibri" pitchFamily="34" charset="-122"/>
                <a:cs typeface="Calibri" pitchFamily="34" charset="-120"/>
              </a:rPr>
              <a:t>WHY THIS MATTERS</a:t>
            </a:r>
            <a:endParaRPr lang="en-US" sz="650" dirty="0"/>
          </a:p>
        </p:txBody>
      </p:sp>
      <p:sp>
        <p:nvSpPr>
          <p:cNvPr id="88" name="Text 86"/>
          <p:cNvSpPr/>
          <p:nvPr/>
        </p:nvSpPr>
        <p:spPr>
          <a:xfrm>
            <a:off x="502920" y="6702552"/>
            <a:ext cx="2834640" cy="804672"/>
          </a:xfrm>
          <a:prstGeom prst="rect">
            <a:avLst/>
          </a:prstGeom>
          <a:noFill/>
          <a:ln/>
        </p:spPr>
        <p:txBody>
          <a:bodyPr wrap="square" rtlCol="0" anchor="ctr"/>
          <a:lstStyle/>
          <a:p>
            <a:pPr marL="0" indent="0">
              <a:lnSpc>
                <a:spcPct val="140000"/>
              </a:lnSpc>
              <a:buNone/>
            </a:pPr>
            <a:r>
              <a:rPr lang="en-US" sz="800" dirty="0">
                <a:solidFill>
                  <a:srgbClr val="AABCCC"/>
                </a:solidFill>
                <a:latin typeface="Calibri" pitchFamily="34" charset="0"/>
                <a:ea typeface="Calibri" pitchFamily="34" charset="-122"/>
                <a:cs typeface="Calibri" pitchFamily="34" charset="-120"/>
              </a:rPr>
              <a:t>National CI figures mask a 900+ gCO₂/kWh spread between the cleanest and dirtiest nodes on the GB grid. Without nodal resolution, grid investment decisions, carbon contracts and demand-response strategies are flying blind.</a:t>
            </a:r>
            <a:endParaRPr lang="en-US" sz="800" dirty="0"/>
          </a:p>
        </p:txBody>
      </p:sp>
      <p:sp>
        <p:nvSpPr>
          <p:cNvPr id="89" name="Shape 87"/>
          <p:cNvSpPr/>
          <p:nvPr/>
        </p:nvSpPr>
        <p:spPr>
          <a:xfrm>
            <a:off x="3566160" y="6739128"/>
            <a:ext cx="73152" cy="73152"/>
          </a:xfrm>
          <a:prstGeom prst="ellipse">
            <a:avLst/>
          </a:prstGeom>
          <a:solidFill>
            <a:srgbClr val="00C49A"/>
          </a:solidFill>
          <a:ln w="12700">
            <a:solidFill>
              <a:srgbClr val="00C49A"/>
            </a:solidFill>
            <a:prstDash val="solid"/>
          </a:ln>
        </p:spPr>
        <p:txBody>
          <a:bodyPr/>
          <a:lstStyle/>
          <a:p>
            <a:endParaRPr lang="en-GB"/>
          </a:p>
        </p:txBody>
      </p:sp>
      <p:sp>
        <p:nvSpPr>
          <p:cNvPr id="90" name="Text 88"/>
          <p:cNvSpPr/>
          <p:nvPr/>
        </p:nvSpPr>
        <p:spPr>
          <a:xfrm>
            <a:off x="3703320" y="6702552"/>
            <a:ext cx="2651760" cy="201168"/>
          </a:xfrm>
          <a:prstGeom prst="rect">
            <a:avLst/>
          </a:prstGeom>
          <a:noFill/>
          <a:ln/>
        </p:spPr>
        <p:txBody>
          <a:bodyPr wrap="square" rtlCol="0" anchor="ctr"/>
          <a:lstStyle/>
          <a:p>
            <a:pPr marL="0" indent="0">
              <a:buNone/>
            </a:pPr>
            <a:r>
              <a:rPr lang="en-US" sz="800" dirty="0">
                <a:solidFill>
                  <a:srgbClr val="D0E4F0"/>
                </a:solidFill>
                <a:latin typeface="Calibri" pitchFamily="34" charset="0"/>
                <a:ea typeface="Calibri" pitchFamily="34" charset="-122"/>
                <a:cs typeface="Calibri" pitchFamily="34" charset="-120"/>
              </a:rPr>
              <a:t>Target clean investment where it reduces emissions most</a:t>
            </a:r>
            <a:endParaRPr lang="en-US" sz="800" dirty="0"/>
          </a:p>
        </p:txBody>
      </p:sp>
      <p:sp>
        <p:nvSpPr>
          <p:cNvPr id="91" name="Shape 89"/>
          <p:cNvSpPr/>
          <p:nvPr/>
        </p:nvSpPr>
        <p:spPr>
          <a:xfrm>
            <a:off x="3566160" y="6967728"/>
            <a:ext cx="73152" cy="73152"/>
          </a:xfrm>
          <a:prstGeom prst="ellipse">
            <a:avLst/>
          </a:prstGeom>
          <a:solidFill>
            <a:srgbClr val="00C49A"/>
          </a:solidFill>
          <a:ln w="12700">
            <a:solidFill>
              <a:srgbClr val="00C49A"/>
            </a:solidFill>
            <a:prstDash val="solid"/>
          </a:ln>
        </p:spPr>
        <p:txBody>
          <a:bodyPr/>
          <a:lstStyle/>
          <a:p>
            <a:endParaRPr lang="en-GB"/>
          </a:p>
        </p:txBody>
      </p:sp>
      <p:sp>
        <p:nvSpPr>
          <p:cNvPr id="92" name="Text 90"/>
          <p:cNvSpPr/>
          <p:nvPr/>
        </p:nvSpPr>
        <p:spPr>
          <a:xfrm>
            <a:off x="3703320" y="6931152"/>
            <a:ext cx="2651760" cy="201168"/>
          </a:xfrm>
          <a:prstGeom prst="rect">
            <a:avLst/>
          </a:prstGeom>
          <a:noFill/>
          <a:ln/>
        </p:spPr>
        <p:txBody>
          <a:bodyPr wrap="square" rtlCol="0" anchor="ctr"/>
          <a:lstStyle/>
          <a:p>
            <a:pPr marL="0" indent="0">
              <a:buNone/>
            </a:pPr>
            <a:r>
              <a:rPr lang="en-US" sz="800" dirty="0">
                <a:solidFill>
                  <a:srgbClr val="D0E4F0"/>
                </a:solidFill>
                <a:latin typeface="Calibri" pitchFamily="34" charset="0"/>
                <a:ea typeface="Calibri" pitchFamily="34" charset="-122"/>
                <a:cs typeface="Calibri" pitchFamily="34" charset="-120"/>
              </a:rPr>
              <a:t>Enable location-aware carbon contracts and pricing</a:t>
            </a:r>
            <a:endParaRPr lang="en-US" sz="800" dirty="0"/>
          </a:p>
        </p:txBody>
      </p:sp>
      <p:sp>
        <p:nvSpPr>
          <p:cNvPr id="93" name="Shape 91"/>
          <p:cNvSpPr/>
          <p:nvPr/>
        </p:nvSpPr>
        <p:spPr>
          <a:xfrm>
            <a:off x="3566160" y="7196328"/>
            <a:ext cx="73152" cy="73152"/>
          </a:xfrm>
          <a:prstGeom prst="ellipse">
            <a:avLst/>
          </a:prstGeom>
          <a:solidFill>
            <a:srgbClr val="00C49A"/>
          </a:solidFill>
          <a:ln w="12700">
            <a:solidFill>
              <a:srgbClr val="00C49A"/>
            </a:solidFill>
            <a:prstDash val="solid"/>
          </a:ln>
        </p:spPr>
        <p:txBody>
          <a:bodyPr/>
          <a:lstStyle/>
          <a:p>
            <a:endParaRPr lang="en-GB"/>
          </a:p>
        </p:txBody>
      </p:sp>
      <p:sp>
        <p:nvSpPr>
          <p:cNvPr id="94" name="Text 92"/>
          <p:cNvSpPr/>
          <p:nvPr/>
        </p:nvSpPr>
        <p:spPr>
          <a:xfrm>
            <a:off x="3703320" y="7159752"/>
            <a:ext cx="2651760" cy="201168"/>
          </a:xfrm>
          <a:prstGeom prst="rect">
            <a:avLst/>
          </a:prstGeom>
          <a:noFill/>
          <a:ln/>
        </p:spPr>
        <p:txBody>
          <a:bodyPr wrap="square" rtlCol="0" anchor="ctr"/>
          <a:lstStyle/>
          <a:p>
            <a:pPr marL="0" indent="0">
              <a:buNone/>
            </a:pPr>
            <a:r>
              <a:rPr lang="en-US" sz="800" dirty="0">
                <a:solidFill>
                  <a:srgbClr val="D0E4F0"/>
                </a:solidFill>
                <a:latin typeface="Calibri" pitchFamily="34" charset="0"/>
                <a:ea typeface="Calibri" pitchFamily="34" charset="-122"/>
                <a:cs typeface="Calibri" pitchFamily="34" charset="-120"/>
              </a:rPr>
              <a:t>Support NESO regional reporting with validated nodal data</a:t>
            </a:r>
            <a:endParaRPr lang="en-US" sz="800" dirty="0"/>
          </a:p>
        </p:txBody>
      </p:sp>
      <p:sp>
        <p:nvSpPr>
          <p:cNvPr id="95" name="Shape 93"/>
          <p:cNvSpPr/>
          <p:nvPr/>
        </p:nvSpPr>
        <p:spPr>
          <a:xfrm>
            <a:off x="3566160" y="7424928"/>
            <a:ext cx="73152" cy="73152"/>
          </a:xfrm>
          <a:prstGeom prst="ellipse">
            <a:avLst/>
          </a:prstGeom>
          <a:solidFill>
            <a:srgbClr val="00C49A"/>
          </a:solidFill>
          <a:ln w="12700">
            <a:solidFill>
              <a:srgbClr val="00C49A"/>
            </a:solidFill>
            <a:prstDash val="solid"/>
          </a:ln>
        </p:spPr>
        <p:txBody>
          <a:bodyPr/>
          <a:lstStyle/>
          <a:p>
            <a:endParaRPr lang="en-GB"/>
          </a:p>
        </p:txBody>
      </p:sp>
      <p:sp>
        <p:nvSpPr>
          <p:cNvPr id="96" name="Text 94"/>
          <p:cNvSpPr/>
          <p:nvPr/>
        </p:nvSpPr>
        <p:spPr>
          <a:xfrm>
            <a:off x="3703320" y="7388352"/>
            <a:ext cx="2651760" cy="201168"/>
          </a:xfrm>
          <a:prstGeom prst="rect">
            <a:avLst/>
          </a:prstGeom>
          <a:noFill/>
          <a:ln/>
        </p:spPr>
        <p:txBody>
          <a:bodyPr wrap="square" rtlCol="0" anchor="ctr"/>
          <a:lstStyle/>
          <a:p>
            <a:pPr marL="0" indent="0">
              <a:buNone/>
            </a:pPr>
            <a:r>
              <a:rPr lang="en-US" sz="800" dirty="0">
                <a:solidFill>
                  <a:srgbClr val="D0E4F0"/>
                </a:solidFill>
                <a:latin typeface="Calibri" pitchFamily="34" charset="0"/>
                <a:ea typeface="Calibri" pitchFamily="34" charset="-122"/>
                <a:cs typeface="Calibri" pitchFamily="34" charset="-120"/>
              </a:rPr>
              <a:t>Open-source and reproducible - built on PyPSA-GB</a:t>
            </a:r>
            <a:endParaRPr lang="en-US" sz="800" dirty="0"/>
          </a:p>
        </p:txBody>
      </p:sp>
      <p:sp>
        <p:nvSpPr>
          <p:cNvPr id="97" name="Shape 95"/>
          <p:cNvSpPr/>
          <p:nvPr/>
        </p:nvSpPr>
        <p:spPr>
          <a:xfrm>
            <a:off x="320040" y="7717536"/>
            <a:ext cx="6217920" cy="0"/>
          </a:xfrm>
          <a:prstGeom prst="line">
            <a:avLst/>
          </a:prstGeom>
          <a:noFill/>
          <a:ln w="6350">
            <a:solidFill>
              <a:srgbClr val="E0E6EE"/>
            </a:solidFill>
            <a:prstDash val="solid"/>
          </a:ln>
        </p:spPr>
        <p:txBody>
          <a:bodyPr/>
          <a:lstStyle/>
          <a:p>
            <a:endParaRPr lang="en-GB"/>
          </a:p>
        </p:txBody>
      </p:sp>
      <p:sp>
        <p:nvSpPr>
          <p:cNvPr id="98" name="Text 96"/>
          <p:cNvSpPr/>
          <p:nvPr/>
        </p:nvSpPr>
        <p:spPr>
          <a:xfrm>
            <a:off x="320040" y="9181211"/>
            <a:ext cx="3474720" cy="347472"/>
          </a:xfrm>
          <a:prstGeom prst="rect">
            <a:avLst/>
          </a:prstGeom>
          <a:noFill/>
          <a:ln/>
        </p:spPr>
        <p:txBody>
          <a:bodyPr wrap="square" rtlCol="0" anchor="ctr"/>
          <a:lstStyle/>
          <a:p>
            <a:pPr marL="0" indent="0">
              <a:lnSpc>
                <a:spcPct val="130000"/>
              </a:lnSpc>
              <a:buNone/>
            </a:pPr>
            <a:r>
              <a:rPr lang="en-US" sz="700" dirty="0">
                <a:solidFill>
                  <a:srgbClr val="8899AA"/>
                </a:solidFill>
                <a:latin typeface="Calibri" pitchFamily="34" charset="0"/>
                <a:ea typeface="Calibri" pitchFamily="34" charset="-122"/>
                <a:cs typeface="Calibri" pitchFamily="34" charset="-120"/>
              </a:rPr>
              <a:t>Mert · Annie · Ava · Matthew · Momo · Adnan</a:t>
            </a:r>
            <a:endParaRPr lang="en-US" sz="700" dirty="0"/>
          </a:p>
          <a:p>
            <a:pPr marL="0" indent="0">
              <a:lnSpc>
                <a:spcPct val="130000"/>
              </a:lnSpc>
              <a:buNone/>
            </a:pPr>
            <a:r>
              <a:rPr lang="en-US" sz="700" dirty="0">
                <a:solidFill>
                  <a:srgbClr val="8899AA"/>
                </a:solidFill>
                <a:latin typeface="Calibri" pitchFamily="34" charset="0"/>
                <a:ea typeface="Calibri" pitchFamily="34" charset="-122"/>
                <a:cs typeface="Calibri" pitchFamily="34" charset="-120"/>
              </a:rPr>
              <a:t>Imperial College London · ELEC60014 · May 2026</a:t>
            </a:r>
            <a:endParaRPr lang="en-US" sz="700" dirty="0"/>
          </a:p>
        </p:txBody>
      </p:sp>
      <p:sp>
        <p:nvSpPr>
          <p:cNvPr id="99" name="Text 97"/>
          <p:cNvSpPr/>
          <p:nvPr/>
        </p:nvSpPr>
        <p:spPr>
          <a:xfrm>
            <a:off x="3520440" y="9181211"/>
            <a:ext cx="3017520" cy="347472"/>
          </a:xfrm>
          <a:prstGeom prst="rect">
            <a:avLst/>
          </a:prstGeom>
          <a:noFill/>
          <a:ln/>
        </p:spPr>
        <p:txBody>
          <a:bodyPr wrap="square" rtlCol="0" anchor="ctr"/>
          <a:lstStyle/>
          <a:p>
            <a:pPr marL="0" indent="0" algn="r">
              <a:lnSpc>
                <a:spcPct val="130000"/>
              </a:lnSpc>
              <a:buNone/>
            </a:pPr>
            <a:r>
              <a:rPr lang="en-US" sz="700" dirty="0">
                <a:solidFill>
                  <a:srgbClr val="8899AA"/>
                </a:solidFill>
                <a:latin typeface="Calibri" pitchFamily="34" charset="0"/>
                <a:ea typeface="Calibri" pitchFamily="34" charset="-122"/>
                <a:cs typeface="Calibri" pitchFamily="34" charset="-120"/>
              </a:rPr>
              <a:t>github.com/avagm/neso-carbon-intensity</a:t>
            </a:r>
            <a:endParaRPr lang="en-US" sz="700" dirty="0"/>
          </a:p>
          <a:p>
            <a:pPr marL="0" indent="0" algn="r">
              <a:lnSpc>
                <a:spcPct val="130000"/>
              </a:lnSpc>
              <a:buNone/>
            </a:pPr>
            <a:r>
              <a:rPr lang="en-US" sz="700" dirty="0">
                <a:solidFill>
                  <a:srgbClr val="8899AA"/>
                </a:solidFill>
                <a:latin typeface="Calibri" pitchFamily="34" charset="0"/>
                <a:ea typeface="Calibri" pitchFamily="34" charset="-122"/>
                <a:cs typeface="Calibri" pitchFamily="34" charset="-120"/>
              </a:rPr>
              <a:t>In collaboration with NESO</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3B44DA-FFB0-4100-991D-8A67469CAE79}">
  <we:reference id="wa200010001" version="1.0.0.1" store="en-US" storeType="OMEX"/>
  <we:alternateReferences>
    <we:reference id="wa200010001" version="1.0.0.1" store="en-US" storeType="OMEX"/>
  </we:alternateReferences>
  <we:properties>
    <we:property name="claude.fileId" value="&quot;8049efb4-5026-42d1-970d-3fab055bbd9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5646</TotalTime>
  <Words>598</Words>
  <Application>Microsoft Office PowerPoint</Application>
  <PresentationFormat>Custom</PresentationFormat>
  <Paragraphs>93</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Georgia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Momo Lee</cp:lastModifiedBy>
  <cp:revision>3</cp:revision>
  <dcterms:created xsi:type="dcterms:W3CDTF">2026-05-22T11:53:55Z</dcterms:created>
  <dcterms:modified xsi:type="dcterms:W3CDTF">2026-05-26T10:12:12Z</dcterms:modified>
</cp:coreProperties>
</file>