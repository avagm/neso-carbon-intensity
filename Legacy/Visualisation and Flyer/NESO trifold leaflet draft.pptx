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27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455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502" y="0"/>
            <a:ext cx="0" cy="7562088"/>
          </a:xfrm>
          <a:prstGeom prst="line">
            <a:avLst/>
          </a:prstGeom>
          <a:noFill/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125005" y="0"/>
            <a:ext cx="0" cy="7562088"/>
          </a:xfrm>
          <a:prstGeom prst="line">
            <a:avLst/>
          </a:prstGeom>
          <a:noFill/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562502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37160" y="0"/>
            <a:ext cx="33796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FFFFFF"/>
                </a:solidFill>
              </a:rPr>
              <a:t>NESO CARBON INTENSITY PROJECT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37160" y="475488"/>
            <a:ext cx="3288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Imperial College London  ·  ELEC60014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Group project in collaboration with NESO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" y="960120"/>
            <a:ext cx="3288182" cy="242316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28600" y="1042416"/>
            <a:ext cx="31053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875A"/>
                </a:solidFill>
              </a:rPr>
              <a:t>WHY THIS MATTERS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1243584"/>
            <a:ext cx="31053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National carbon intensity figures mask a 900+ gCO₂/kWh spread between the cleanest and dirtiest nodes on the GB grid.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Without nodal resolution, grid investment decisions, carbon contracts, and demand-response strategies are flying blind.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This model provides the spatial granularity needed to make those decisions intelligently.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4592" y="3511296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92608" y="3474720"/>
            <a:ext cx="3123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Target clean investment where it reduces emissions most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" y="3803904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92608" y="3767328"/>
            <a:ext cx="3123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Enable location-aware carbon contracts and pricing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4592" y="4096512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92608" y="4059936"/>
            <a:ext cx="3123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Support NESO's regional reporting with validated nodal data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4592" y="4389120"/>
            <a:ext cx="73152" cy="73152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92608" y="4352544"/>
            <a:ext cx="3123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Open-source and reproducible — built on PyPSA-GB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7160" y="6419088"/>
            <a:ext cx="3288182" cy="0"/>
          </a:xfrm>
          <a:prstGeom prst="line">
            <a:avLst/>
          </a:prstGeom>
          <a:noFill/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37160" y="6492240"/>
            <a:ext cx="32881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875A"/>
                </a:solidFill>
              </a:rPr>
              <a:t>github.com/avagm/neso-carbon-intensity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7160" y="6720840"/>
            <a:ext cx="32881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750" dirty="0">
                <a:solidFill>
                  <a:srgbClr val="7AADA0"/>
                </a:solidFill>
              </a:rPr>
              <a:t>Mert · Annie · Ava · Matthew · Momo · Adnan</a:t>
            </a:r>
            <a:endParaRPr lang="en-US" sz="7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750" dirty="0">
                <a:solidFill>
                  <a:srgbClr val="7AADA0"/>
                </a:solidFill>
              </a:rPr>
              <a:t>Imperial College London · May 2026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562502" y="0"/>
            <a:ext cx="109728" cy="756208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791102" y="292608"/>
            <a:ext cx="32424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875A"/>
                </a:solidFill>
              </a:rPr>
              <a:t>CARBON INTENSITY RESEARCH  ·  2026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91102" y="530352"/>
            <a:ext cx="326989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Mapping the
Carbon Cost of
</a:t>
            </a:r>
            <a:r>
              <a:rPr lang="en-US" sz="24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Electron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Britain's Grid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791102" y="3218688"/>
            <a:ext cx="32424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3D6B5B"/>
                </a:solidFill>
              </a:rPr>
              <a:t>A nodal power flow model computing carbon intensity at every bus of the GB electricity network — hour by hour across 2023.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91102" y="4160520"/>
            <a:ext cx="324246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791102" y="4160520"/>
            <a:ext cx="54864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909974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2,130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71262" y="4343400"/>
            <a:ext cx="1916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B5B"/>
                </a:solidFill>
              </a:rPr>
              <a:t>Network buses modelled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91102" y="4928616"/>
            <a:ext cx="324246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791102" y="4928616"/>
            <a:ext cx="54864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909974" y="4974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8,760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071262" y="5111496"/>
            <a:ext cx="1916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B5B"/>
                </a:solidFill>
              </a:rPr>
              <a:t>Hourly snapshots (2023)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91102" y="5696712"/>
            <a:ext cx="324246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3791102" y="5696712"/>
            <a:ext cx="54864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909974" y="5742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071262" y="5879592"/>
            <a:ext cx="1916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B5B"/>
                </a:solidFill>
              </a:rPr>
              <a:t>Best model RMSE gCO₂/kWh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91102" y="6464808"/>
            <a:ext cx="324246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3791102" y="6464808"/>
            <a:ext cx="54864" cy="65836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909974" y="6510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0.936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071262" y="6647688"/>
            <a:ext cx="1916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B5B"/>
                </a:solidFill>
              </a:rPr>
              <a:t>Pearson r (32-bus vs NESO)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91102" y="7150608"/>
            <a:ext cx="3288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ADA0"/>
                </a:solidFill>
              </a:rPr>
              <a:t>In collaboration with National Energy System Operator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125005" y="0"/>
            <a:ext cx="3562502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7307885" y="0"/>
            <a:ext cx="32881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FFFFFF"/>
                </a:solidFill>
              </a:rPr>
              <a:t>THE PIPELINE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307885" y="502920"/>
            <a:ext cx="3242462" cy="210312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7307885" y="502920"/>
            <a:ext cx="54864" cy="21031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7445045" y="5577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445045" y="960120"/>
            <a:ext cx="3059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1F"/>
                </a:solidFill>
              </a:rPr>
              <a:t>Dispatch Simulation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45045" y="1188720"/>
            <a:ext cx="305958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PyPSA-GB optimises generation dispatch across the full GB network using 2023 historical data. Transmission losses (8%) and NESO's biomass factor (120 gCO₂/kWh) are explicitly modelled.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307885" y="2788920"/>
            <a:ext cx="3242462" cy="210312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7307885" y="2788920"/>
            <a:ext cx="54864" cy="21031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7445045" y="28437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7445045" y="3246120"/>
            <a:ext cx="3059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1F"/>
                </a:solidFill>
              </a:rPr>
              <a:t>Bialek Tracing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445045" y="3474720"/>
            <a:ext cx="305958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Average proportional sharing attributes carbon from each generator to every bus — assigning a precise carbon intensity at each node at every timestep, not just a system average.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307885" y="5074920"/>
            <a:ext cx="3242462" cy="210312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7307885" y="5074920"/>
            <a:ext cx="54864" cy="21031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7445045" y="512978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EB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7445045" y="5532120"/>
            <a:ext cx="30595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1F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445045" y="5760720"/>
            <a:ext cx="305958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Nodal results are aggregated to NESO's 17 regional zones and benchmarked against the official Carbon Intensity API. Annual output of 272–273 TWh sits within 1% of GB's 2023 actual.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307885" y="7205472"/>
            <a:ext cx="3288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ADA0"/>
                </a:solidFill>
              </a:rPr>
              <a:t>NESO Carbon Intensity Project  ·  Imperial College London  ·  2026</a:t>
            </a:r>
            <a:endParaRPr lang="en-US" sz="65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C0450A-FF06-4C76-1DB2-0EDB1062D7F7}"/>
              </a:ext>
            </a:extLst>
          </p:cNvPr>
          <p:cNvSpPr txBox="1"/>
          <p:nvPr/>
        </p:nvSpPr>
        <p:spPr>
          <a:xfrm>
            <a:off x="1097280" y="5431853"/>
            <a:ext cx="1213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rgbClr val="3D6B5B"/>
                </a:solidFill>
              </a:rPr>
              <a:t>Geological map goes here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8F6FEE3-4ABA-A7FD-FC32-E2B8C194294E}"/>
              </a:ext>
            </a:extLst>
          </p:cNvPr>
          <p:cNvSpPr txBox="1"/>
          <p:nvPr/>
        </p:nvSpPr>
        <p:spPr>
          <a:xfrm>
            <a:off x="109727" y="4716615"/>
            <a:ext cx="34710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rgbClr val="3D6B5B"/>
                </a:solidFill>
              </a:rPr>
              <a:t>Geographic carbon intensity map — GB transmission network · Mean nodal CI across 2,130 buses · Full year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502" y="0"/>
            <a:ext cx="0" cy="7562088"/>
          </a:xfrm>
          <a:prstGeom prst="line">
            <a:avLst/>
          </a:prstGeom>
          <a:noFill/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125005" y="0"/>
            <a:ext cx="0" cy="7562088"/>
          </a:xfrm>
          <a:prstGeom prst="line">
            <a:avLst/>
          </a:prstGeom>
          <a:noFill/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562502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82880" y="0"/>
            <a:ext cx="32881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FFFFFF"/>
                </a:solidFill>
              </a:rPr>
              <a:t>KEY RESULTS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82880" y="502920"/>
            <a:ext cx="324246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82880" y="502920"/>
            <a:ext cx="54864" cy="16002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10896" y="576072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0896" y="978408"/>
            <a:ext cx="3087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ADA0"/>
                </a:solidFill>
              </a:rPr>
              <a:t>RMSE reduction with network topology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0896" y="1179576"/>
            <a:ext cx="308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Adding network constraints reduces RMSE from 38.0 (copperplate) to 28.3 gCO₂/kWh (32-bus) — a 25% improvement over the simplest model.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2880" y="2240280"/>
            <a:ext cx="324246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82880" y="2240280"/>
            <a:ext cx="54864" cy="16002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10896" y="2313432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0896" y="2715768"/>
            <a:ext cx="3087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ADA0"/>
                </a:solidFill>
              </a:rPr>
              <a:t>Pearson r — 32-bus vs NESO actuals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10896" y="2916936"/>
            <a:ext cx="308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The 32-bus model achieves the highest correlation with NESO's published Carbon Intensity API across all 8,760 hourly snapshots in 2023.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324246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82880" y="3977640"/>
            <a:ext cx="54864" cy="16002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10896" y="4050792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0896" y="4453128"/>
            <a:ext cx="3087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ADA0"/>
                </a:solidFill>
              </a:rPr>
              <a:t>Annual CO₂ emissions (Mt) — network models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10896" y="4654296"/>
            <a:ext cx="308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Both 17-zone and 32-bus models produce 40.2 Mt — physically correct. Copperplate underestimates at 37.3 Mt, confirming grid constraints matter.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5715000"/>
            <a:ext cx="324246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82880" y="5715000"/>
            <a:ext cx="54864" cy="16002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10896" y="5788152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6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−8.9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10896" y="6190488"/>
            <a:ext cx="3087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AADA0"/>
                </a:solidFill>
              </a:rPr>
              <a:t>Mean bias gCO₂/kWh (32-bus model)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10896" y="6391656"/>
            <a:ext cx="308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3D6B5B"/>
                </a:solidFill>
              </a:rPr>
              <a:t>Bias reduced from −18.6 (copperplate) to −8.9 gCO₂/kWh with network topology — nearly halved, and consistent across the year.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62502" y="0"/>
            <a:ext cx="3562502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745382" y="0"/>
            <a:ext cx="32881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VALIDATION METRICS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45382" y="457200"/>
            <a:ext cx="32881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6B5B"/>
                </a:solidFill>
              </a:rPr>
              <a:t>32-bus model vs NESO Carbon Intensity API · Full year 2023 · NESO actual mean: 152.1 gCO₂/kWh</a:t>
            </a:r>
            <a:endParaRPr lang="en-US" sz="7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836060"/>
              </p:ext>
            </p:extLst>
          </p:nvPr>
        </p:nvGraphicFramePr>
        <p:xfrm>
          <a:off x="3730853" y="847852"/>
          <a:ext cx="3227832" cy="1374648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Copperplate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17-zone</a:t>
                      </a:r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32-bus</a:t>
                      </a:r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RMSE (gCO₂/kWh)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38.0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36.0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850" kern="1200" dirty="0">
                          <a:solidFill>
                            <a:srgbClr val="3D6B5B"/>
                          </a:solidFill>
                          <a:latin typeface="+mn-lt"/>
                          <a:ea typeface="+mn-ea"/>
                          <a:cs typeface="+mn-cs"/>
                        </a:rPr>
                        <a:t>28.3</a:t>
                      </a:r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Pearson 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0.928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0.923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850" kern="1200" dirty="0">
                          <a:solidFill>
                            <a:srgbClr val="3D6B5B"/>
                          </a:solidFill>
                          <a:latin typeface="+mn-lt"/>
                          <a:ea typeface="+mn-ea"/>
                          <a:cs typeface="+mn-cs"/>
                        </a:rPr>
                        <a:t>0.936</a:t>
                      </a:r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Bias (gCO₂/kWh)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−18.6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−7.4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850" kern="1200" dirty="0">
                          <a:solidFill>
                            <a:srgbClr val="3D6B5B"/>
                          </a:solidFill>
                          <a:latin typeface="+mn-lt"/>
                          <a:ea typeface="+mn-ea"/>
                          <a:cs typeface="+mn-cs"/>
                        </a:rPr>
                        <a:t>−8.9</a:t>
                      </a:r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Annual CO₂ (Mt)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37.3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D6B5B"/>
                          </a:solidFill>
                        </a:rPr>
                        <a:t>40.2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850" kern="1200" dirty="0">
                          <a:solidFill>
                            <a:srgbClr val="3D6B5B"/>
                          </a:solidFill>
                          <a:latin typeface="+mn-lt"/>
                          <a:ea typeface="+mn-ea"/>
                          <a:cs typeface="+mn-cs"/>
                        </a:rPr>
                        <a:t>40.2</a:t>
                      </a:r>
                    </a:p>
                  </a:txBody>
                  <a:tcPr>
                    <a:lnL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E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3745382" y="2297063"/>
            <a:ext cx="32424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750" i="1" dirty="0">
                <a:solidFill>
                  <a:srgbClr val="3D6B5B"/>
                </a:solidFill>
              </a:rPr>
              <a:t>Key finding: Adding network topology reduces RMSE by 25% and nearly halves the bias. Both network models produce the physically correct 40.2 Mt total emissions vs copperplate's 37.3 Mt — confirming grid constraints matter.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125005" y="0"/>
            <a:ext cx="3562502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7307885" y="0"/>
            <a:ext cx="32881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FFFFFF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07885" y="502920"/>
            <a:ext cx="324246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The UK electricity grid must </a:t>
            </a:r>
            <a:r>
              <a:rPr lang="en-US" sz="850" dirty="0" err="1">
                <a:solidFill>
                  <a:srgbClr val="3D6B5B"/>
                </a:solidFill>
              </a:rPr>
              <a:t>decarbonise</a:t>
            </a:r>
            <a:r>
              <a:rPr lang="en-US" sz="850" dirty="0">
                <a:solidFill>
                  <a:srgbClr val="3D6B5B"/>
                </a:solidFill>
              </a:rPr>
              <a:t> fast. But national average carbon intensity figures hide a critical truth: not all electrons are equal.</a:t>
            </a: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Knowing the system average tells you little about where investment in clean generation or grid infrastructure will have the greatest impact.</a:t>
            </a: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Emissions are unevenly distributed — from 0 gCO₂/kWh at nuclear and wind buses to over 900 gCO₂/kWh at thermal hotspots. Without nodal visibility, investment decisions are made blind.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307885" y="3017520"/>
            <a:ext cx="3196742" cy="0"/>
          </a:xfrm>
          <a:prstGeom prst="line">
            <a:avLst/>
          </a:prstGeom>
          <a:noFill/>
          <a:ln w="12700">
            <a:solidFill>
              <a:srgbClr val="C5EB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7125005" y="3090672"/>
            <a:ext cx="3562502" cy="384048"/>
          </a:xfrm>
          <a:prstGeom prst="rect">
            <a:avLst/>
          </a:prstGeom>
          <a:solidFill>
            <a:srgbClr val="E8F7F2"/>
          </a:solidFill>
          <a:ln w="12700">
            <a:solidFill>
              <a:srgbClr val="E8F7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7307885" y="3090672"/>
            <a:ext cx="32881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00875A"/>
                </a:solidFill>
              </a:rPr>
              <a:t>OUR SOLUTION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7262165" y="3529584"/>
            <a:ext cx="324246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We built a full-year, nodal-resolution carbon intensity model using PyPSA-GB as the dispatch engine and Bialek average proportional sharing to attribute carbon to every node in the network.</a:t>
            </a: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3D6B5B"/>
                </a:solidFill>
              </a:rPr>
              <a:t>The result is a validated, open-source tool that maps emissions spatially across the GB network at unprecedented granularity — benchmarked against NESO's Carbon Intensity API.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7307885" y="7205472"/>
            <a:ext cx="3288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ADA0"/>
                </a:solidFill>
              </a:rPr>
              <a:t>Imperial College London  ·  ELEC60014  ·  May 2026</a:t>
            </a:r>
            <a:endParaRPr lang="en-US" sz="65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D2209203-C84C-F858-1B78-7C451EB8A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823" y="3530461"/>
            <a:ext cx="3225800" cy="145232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51A438F-63E5-1E22-5B61-B192BABCD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044" y="5652629"/>
            <a:ext cx="3225800" cy="145232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09257D4-4922-493D-822E-729AC5911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3850" y="5621362"/>
            <a:ext cx="1955800" cy="151711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5623577-F5F3-965E-AF5F-00BD42967C07}"/>
              </a:ext>
            </a:extLst>
          </p:cNvPr>
          <p:cNvSpPr txBox="1"/>
          <p:nvPr/>
        </p:nvSpPr>
        <p:spPr>
          <a:xfrm>
            <a:off x="3699662" y="3166833"/>
            <a:ext cx="3225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50" dirty="0" err="1">
                <a:solidFill>
                  <a:srgbClr val="3D6B5B"/>
                </a:solidFill>
              </a:rPr>
              <a:t>PyPSA</a:t>
            </a:r>
            <a:r>
              <a:rPr lang="en-GB" sz="750" dirty="0">
                <a:solidFill>
                  <a:srgbClr val="3D6B5B"/>
                </a:solidFill>
              </a:rPr>
              <a:t> model vs NESO actual carbon intensity · All three model configurations · 8,760 hourly snapshots · 2023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B6BDC8-3323-B4BE-4F88-754D2D3379F7}"/>
              </a:ext>
            </a:extLst>
          </p:cNvPr>
          <p:cNvSpPr txBox="1"/>
          <p:nvPr/>
        </p:nvSpPr>
        <p:spPr>
          <a:xfrm>
            <a:off x="3716326" y="5314075"/>
            <a:ext cx="3225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3D6B5B"/>
                </a:solidFill>
              </a:rPr>
              <a:t>Monthly mean carbon intensity 2023 — 32-bus model tracks NESO actuals most closely year-round</a:t>
            </a:r>
            <a:endParaRPr lang="en-GB" sz="800" dirty="0">
              <a:solidFill>
                <a:srgbClr val="3D6B5B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861421-F027-4F9A-F3DC-7A1DD3DC97AE}"/>
              </a:ext>
            </a:extLst>
          </p:cNvPr>
          <p:cNvSpPr txBox="1"/>
          <p:nvPr/>
        </p:nvSpPr>
        <p:spPr>
          <a:xfrm>
            <a:off x="7302500" y="5242976"/>
            <a:ext cx="3238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3D6B5B"/>
                </a:solidFill>
              </a:rPr>
              <a:t>Taylor diagram showing 32-bus model closest to NESO reference across correlation and standard deviation</a:t>
            </a:r>
            <a:endParaRPr lang="en-GB" sz="800" dirty="0">
              <a:solidFill>
                <a:srgbClr val="3D6B5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5BB9193-2CDA-42DD-B3A2-D345D68808E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99c3962-4414-4b9d-9838-368b9af0662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783</Words>
  <Application>Microsoft Office PowerPoint</Application>
  <PresentationFormat>Custom</PresentationFormat>
  <Paragraphs>94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Momo Lee</cp:lastModifiedBy>
  <cp:revision>3</cp:revision>
  <dcterms:created xsi:type="dcterms:W3CDTF">2026-05-29T11:11:34Z</dcterms:created>
  <dcterms:modified xsi:type="dcterms:W3CDTF">2026-05-29T12:23:58Z</dcterms:modified>
</cp:coreProperties>
</file>